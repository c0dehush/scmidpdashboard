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SCM INVENTORY &amp; DISTRIBUTION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Executive Control Tower • Management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Current performance, stock-out exposure, inventory days and branch request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74320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85292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MC Class A 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5468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32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0273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ADE80"/>
                </a:solidFill>
              </a:rPr>
              <a:t>▼ 3 vs previous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74320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85292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MUTI MC DoI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15468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104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60273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7171"/>
                </a:solidFill>
              </a:rPr>
              <a:t>▲ 12 vs previous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274320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85292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Overall Class A Stock-Out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315468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60273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7171"/>
                </a:solidFill>
              </a:rPr>
              <a:t>▲ 2 vs previous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5196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36168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Stock-Out Rate · Per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66344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11149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7171"/>
                </a:solidFill>
              </a:rPr>
              <a:t>▲ 1 vs previous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425196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436168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Stock-Out · After PO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66344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511149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ADE80"/>
                </a:solidFill>
              </a:rPr>
              <a:t>▼ 0 vs previous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29107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Source: KPI_YTD_Input, KPI_WEEKLY_Input and Raw Distribution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YTD KPI TREND · 1/2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Actual and Trend share one chart; Trend is a straight directional regression line kept above Actual; YTD axis displays month only.</a:t>
            </a:r>
          </a:p>
        </p:txBody>
      </p:sp>
      <p:pic>
        <p:nvPicPr>
          <p:cNvPr id="5" name="Picture 4" descr="tmpfskvu8j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6" name="Picture 5" descr="tmp4sxtrt6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  <p:pic>
        <p:nvPicPr>
          <p:cNvPr id="7" name="Picture 6" descr="tmp10f6jc3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81144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YTD KPI TREND · 2/2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Actual and Trend share one chart; Trend is a straight directional regression line kept above Actual; YTD axis displays month only.</a:t>
            </a:r>
          </a:p>
        </p:txBody>
      </p:sp>
      <p:pic>
        <p:nvPicPr>
          <p:cNvPr id="5" name="Picture 4" descr="tmp9v813h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6" name="Picture 5" descr="tmpp76l0_s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WEEKLY KPI TREND · 1/2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Actual and Trend share one chart; Trend is a straight directional regression line kept above Actual; YTD axis displays month only.</a:t>
            </a:r>
          </a:p>
        </p:txBody>
      </p:sp>
      <p:pic>
        <p:nvPicPr>
          <p:cNvPr id="5" name="Picture 4" descr="tmp_p534v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6" name="Picture 5" descr="tmpcu5qu_5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  <p:pic>
        <p:nvPicPr>
          <p:cNvPr id="7" name="Picture 6" descr="tmpjx1la6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81144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WEEKLY KPI TREND · 2/2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Actual and Trend share one chart; Trend is a straight directional regression line kept above Actual; YTD axis displays month only.</a:t>
            </a:r>
          </a:p>
        </p:txBody>
      </p:sp>
      <p:pic>
        <p:nvPicPr>
          <p:cNvPr id="5" name="Picture 4" descr="tmp_d3td5d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6" name="Picture 5" descr="tmpumy5ji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AREA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Selected view: Overall • Stock-out rate = Stockout count ÷ stock-status count within the same 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487168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27048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A Stock-Out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487168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527048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B Stock-Out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82880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417320"/>
            <a:ext cx="2487168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527048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C Stock-Out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82880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7424" y="1417320"/>
            <a:ext cx="2487168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1527048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Overall 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182880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52928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AREA STOCK-OUT RANKING · HIGHEST TO LOWEST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24612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1. AREA 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2461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2461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46%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520439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2. AREA III-A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52043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39%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352043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42%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794759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3. AREA 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79475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38%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79475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38%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069079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4. AREA VI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06907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35%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06907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52%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34340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5. AREA III-B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3434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34%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43434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44%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61772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6. AREA II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6177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39" y="46177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28%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89204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7. AREA 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89204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26%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489204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28%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5166360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8. AREA VII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16636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516636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A 28%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85292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BRANCH CLASS A STOCK-OUT 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324612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1. MUTI BATANGAS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2461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32461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VII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520439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2. MUTI MARAMAG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52043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3520439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II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3794759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3. MUTI PROSPERIDAD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379475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3794759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VI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069079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4. MUTI MIDSAYAP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06907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75%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4069079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IV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434340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5. MUTI CALINAN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43434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0" y="43434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III-B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461772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6. MUTI SURIGAO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461772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71%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49840" y="46177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VI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46520" y="489204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7. MUTI TUPI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489204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71%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40" y="489204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V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46520" y="516636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8. MUTI TAGUM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0" y="516636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67%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9840" y="516636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III-A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5440679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9. MUTI 3S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5440679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63%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9840" y="5440679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46520" y="5715000"/>
            <a:ext cx="2514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10. MUTI TAGUM 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5715000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8FAFC"/>
                </a:solidFill>
              </a:rPr>
              <a:t>60%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49840" y="57150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94A3B8"/>
                </a:solidFill>
              </a:rPr>
              <a:t>AREA III-A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BRANCH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GREATWALL • AREA 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2487168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35607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A Stock-Out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3736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487168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435607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B Stock-Out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73736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325880"/>
            <a:ext cx="2487168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435607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C Stock-Out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73736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7424" y="1325880"/>
            <a:ext cx="2487168" cy="107899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1435607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Overall 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1737360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3347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MODEL INTELLIGENCE · TOP PRIORITY MODELS BY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962656"/>
            <a:ext cx="5669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962656"/>
            <a:ext cx="56692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RANK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2962656"/>
            <a:ext cx="2971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962656"/>
            <a:ext cx="15087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962656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INV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2962656"/>
            <a:ext cx="84124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SUGG.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962656"/>
            <a:ext cx="6583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DoI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2461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BBF24"/>
                </a:solidFill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32461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1952" y="3246120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CLICK125 FI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3246120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246120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324612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-176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32461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4747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BBF24"/>
                </a:solidFill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34747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01952" y="3474720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CT125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474720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3474720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282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96912" y="347472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-282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34747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7033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BBF24"/>
                </a:solidFill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37033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01952" y="3703320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CRF150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3703320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3703320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96912" y="370332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37033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1080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39319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BBF24"/>
                </a:solidFill>
              </a:rPr>
              <a:t>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61872" y="3931920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01952" y="3931920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CLICK125 FI 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3931920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3931920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58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96912" y="3931920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-58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2" y="3931920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42336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</a:rPr>
              <a:t>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61872" y="42336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1952" y="4233672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XR150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4233672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10528" y="4233672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88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96912" y="423367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-88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42336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44622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</a:rPr>
              <a:t>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61872" y="44622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01952" y="4462272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ADV160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0" y="4462272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10528" y="4462272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96912" y="446227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-35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11312" y="44622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46908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</a:rPr>
              <a:t>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61872" y="46908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01952" y="4690872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XRM MOTARD FI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0" y="4690872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10528" y="4690872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28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96912" y="469087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-28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11312" y="46908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" y="491947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</a:rPr>
              <a:t>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61872" y="49194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901952" y="4919472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XRM DUAL SPORTS FI(DS)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37760" y="4919472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10528" y="4919472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96912" y="4919472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-110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11312" y="4919472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" y="52212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</a:rPr>
              <a:t>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61872" y="52212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#17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01952" y="5221224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NAVI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37760" y="522122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10528" y="5221224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29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96912" y="5221224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-29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11312" y="522122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8368" y="54498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</a:rPr>
              <a:t>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61872" y="5449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#18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901952" y="5449824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BURGMAN15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37760" y="544982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10528" y="5449824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96912" y="5449824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-13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11312" y="544982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8368" y="56784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</a:rPr>
              <a:t>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61872" y="56784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#19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01952" y="5678424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AVENIS125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37760" y="567842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10528" y="5678424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96912" y="5678424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11312" y="567842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58368" y="59070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94A3B8"/>
                </a:solidFill>
              </a:rPr>
              <a:t>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261872" y="59070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#21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901952" y="5907024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MIO AEROX 155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937760" y="5907024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>
                <a:solidFill>
                  <a:srgbClr val="94A3B8"/>
                </a:solidFill>
              </a:rPr>
              <a:t>Over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10528" y="5907024"/>
            <a:ext cx="71323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296912" y="5907024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-1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11312" y="590702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FAFC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MANAGEMENT ACTION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Focus replenishment decisions on Class A exposure first, then use branch DoI and Suggested Transfer to balance inventory.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331720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96312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1  Prioritize the highest Class A stock-out areas and branches.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118103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82696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2  Review models with Stockout / Re-order status against Suggested Transfer.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04487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3  Use the Request Simulator to test projected DoI before approving transfers.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690872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4  Re-import the latest workbook and regenerate this deck for every operating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