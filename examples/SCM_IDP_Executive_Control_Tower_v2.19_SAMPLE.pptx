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  <p:sldId id="330" r:id="rId81"/>
    <p:sldId id="331" r:id="rId82"/>
    <p:sldId id="332" r:id="rId83"/>
    <p:sldId id="333" r:id="rId84"/>
    <p:sldId id="334" r:id="rId85"/>
    <p:sldId id="335" r:id="rId86"/>
    <p:sldId id="336" r:id="rId87"/>
    <p:sldId id="337" r:id="rId88"/>
    <p:sldId id="338" r:id="rId89"/>
    <p:sldId id="339" r:id="rId90"/>
    <p:sldId id="340" r:id="rId91"/>
    <p:sldId id="341" r:id="rId92"/>
    <p:sldId id="342" r:id="rId93"/>
    <p:sldId id="343" r:id="rId94"/>
    <p:sldId id="344" r:id="rId95"/>
    <p:sldId id="345" r:id="rId96"/>
    <p:sldId id="346" r:id="rId97"/>
    <p:sldId id="347" r:id="rId98"/>
    <p:sldId id="348" r:id="rId99"/>
    <p:sldId id="349" r:id="rId100"/>
    <p:sldId id="350" r:id="rId101"/>
    <p:sldId id="351" r:id="rId102"/>
    <p:sldId id="352" r:id="rId103"/>
    <p:sldId id="353" r:id="rId104"/>
    <p:sldId id="354" r:id="rId105"/>
    <p:sldId id="355" r:id="rId106"/>
    <p:sldId id="356" r:id="rId107"/>
    <p:sldId id="357" r:id="rId108"/>
    <p:sldId id="358" r:id="rId109"/>
    <p:sldId id="359" r:id="rId110"/>
    <p:sldId id="360" r:id="rId111"/>
    <p:sldId id="361" r:id="rId112"/>
    <p:sldId id="362" r:id="rId113"/>
    <p:sldId id="363" r:id="rId114"/>
    <p:sldId id="364" r:id="rId115"/>
    <p:sldId id="365" r:id="rId116"/>
    <p:sldId id="366" r:id="rId117"/>
    <p:sldId id="367" r:id="rId118"/>
    <p:sldId id="368" r:id="rId119"/>
    <p:sldId id="369" r:id="rId120"/>
    <p:sldId id="370" r:id="rId121"/>
    <p:sldId id="371" r:id="rId122"/>
    <p:sldId id="372" r:id="rId123"/>
    <p:sldId id="373" r:id="rId124"/>
    <p:sldId id="374" r:id="rId125"/>
    <p:sldId id="375" r:id="rId126"/>
    <p:sldId id="376" r:id="rId127"/>
    <p:sldId id="377" r:id="rId128"/>
    <p:sldId id="378" r:id="rId129"/>
    <p:sldId id="379" r:id="rId130"/>
    <p:sldId id="380" r:id="rId131"/>
    <p:sldId id="381" r:id="rId132"/>
    <p:sldId id="382" r:id="rId133"/>
    <p:sldId id="383" r:id="rId134"/>
    <p:sldId id="384" r:id="rId135"/>
    <p:sldId id="385" r:id="rId136"/>
    <p:sldId id="386" r:id="rId137"/>
    <p:sldId id="387" r:id="rId138"/>
    <p:sldId id="388" r:id="rId139"/>
    <p:sldId id="389" r:id="rId140"/>
    <p:sldId id="390" r:id="rId141"/>
    <p:sldId id="391" r:id="rId142"/>
    <p:sldId id="392" r:id="rId143"/>
    <p:sldId id="393" r:id="rId144"/>
    <p:sldId id="394" r:id="rId145"/>
    <p:sldId id="395" r:id="rId146"/>
    <p:sldId id="396" r:id="rId147"/>
    <p:sldId id="397" r:id="rId148"/>
    <p:sldId id="398" r:id="rId149"/>
    <p:sldId id="399" r:id="rId150"/>
    <p:sldId id="400" r:id="rId151"/>
    <p:sldId id="401" r:id="rId152"/>
    <p:sldId id="402" r:id="rId153"/>
    <p:sldId id="403" r:id="rId154"/>
    <p:sldId id="404" r:id="rId155"/>
    <p:sldId id="405" r:id="rId156"/>
    <p:sldId id="406" r:id="rId157"/>
    <p:sldId id="407" r:id="rId158"/>
    <p:sldId id="408" r:id="rId159"/>
    <p:sldId id="409" r:id="rId160"/>
    <p:sldId id="410" r:id="rId161"/>
    <p:sldId id="411" r:id="rId162"/>
    <p:sldId id="412" r:id="rId163"/>
    <p:sldId id="413" r:id="rId164"/>
    <p:sldId id="414" r:id="rId165"/>
    <p:sldId id="415" r:id="rId166"/>
    <p:sldId id="416" r:id="rId167"/>
    <p:sldId id="417" r:id="rId168"/>
    <p:sldId id="418" r:id="rId169"/>
    <p:sldId id="419" r:id="rId170"/>
    <p:sldId id="420" r:id="rId171"/>
    <p:sldId id="421" r:id="rId172"/>
    <p:sldId id="422" r:id="rId173"/>
    <p:sldId id="423" r:id="rId174"/>
    <p:sldId id="424" r:id="rId175"/>
    <p:sldId id="425" r:id="rId176"/>
    <p:sldId id="426" r:id="rId177"/>
    <p:sldId id="427" r:id="rId178"/>
    <p:sldId id="428" r:id="rId179"/>
    <p:sldId id="429" r:id="rId180"/>
    <p:sldId id="430" r:id="rId181"/>
    <p:sldId id="431" r:id="rId182"/>
    <p:sldId id="432" r:id="rId183"/>
    <p:sldId id="433" r:id="rId184"/>
    <p:sldId id="434" r:id="rId185"/>
    <p:sldId id="435" r:id="rId186"/>
    <p:sldId id="436" r:id="rId187"/>
    <p:sldId id="437" r:id="rId188"/>
    <p:sldId id="438" r:id="rId189"/>
    <p:sldId id="439" r:id="rId190"/>
    <p:sldId id="440" r:id="rId191"/>
    <p:sldId id="441" r:id="rId192"/>
    <p:sldId id="442" r:id="rId193"/>
    <p:sldId id="443" r:id="rId194"/>
    <p:sldId id="444" r:id="rId195"/>
    <p:sldId id="445" r:id="rId196"/>
    <p:sldId id="446" r:id="rId197"/>
    <p:sldId id="447" r:id="rId198"/>
  </p:sldIdLst>
  <p:sldSz cx="12191695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slide" Target="slides/slide5.xml"/><Relationship Id="rId12" Type="http://schemas.openxmlformats.org/officeDocument/2006/relationships/slide" Target="slides/slide6.xml"/><Relationship Id="rId13" Type="http://schemas.openxmlformats.org/officeDocument/2006/relationships/slide" Target="slides/slide7.xml"/><Relationship Id="rId14" Type="http://schemas.openxmlformats.org/officeDocument/2006/relationships/slide" Target="slides/slide8.xml"/><Relationship Id="rId15" Type="http://schemas.openxmlformats.org/officeDocument/2006/relationships/slide" Target="slides/slide9.xml"/><Relationship Id="rId16" Type="http://schemas.openxmlformats.org/officeDocument/2006/relationships/slide" Target="slides/slide10.xml"/><Relationship Id="rId17" Type="http://schemas.openxmlformats.org/officeDocument/2006/relationships/slide" Target="slides/slide11.xml"/><Relationship Id="rId18" Type="http://schemas.openxmlformats.org/officeDocument/2006/relationships/slide" Target="slides/slide12.xml"/><Relationship Id="rId19" Type="http://schemas.openxmlformats.org/officeDocument/2006/relationships/slide" Target="slides/slide13.xml"/><Relationship Id="rId20" Type="http://schemas.openxmlformats.org/officeDocument/2006/relationships/slide" Target="slides/slide14.xml"/><Relationship Id="rId21" Type="http://schemas.openxmlformats.org/officeDocument/2006/relationships/slide" Target="slides/slide15.xml"/><Relationship Id="rId22" Type="http://schemas.openxmlformats.org/officeDocument/2006/relationships/slide" Target="slides/slide16.xml"/><Relationship Id="rId23" Type="http://schemas.openxmlformats.org/officeDocument/2006/relationships/slide" Target="slides/slide17.xml"/><Relationship Id="rId24" Type="http://schemas.openxmlformats.org/officeDocument/2006/relationships/slide" Target="slides/slide18.xml"/><Relationship Id="rId25" Type="http://schemas.openxmlformats.org/officeDocument/2006/relationships/slide" Target="slides/slide19.xml"/><Relationship Id="rId26" Type="http://schemas.openxmlformats.org/officeDocument/2006/relationships/slide" Target="slides/slide20.xml"/><Relationship Id="rId27" Type="http://schemas.openxmlformats.org/officeDocument/2006/relationships/slide" Target="slides/slide21.xml"/><Relationship Id="rId28" Type="http://schemas.openxmlformats.org/officeDocument/2006/relationships/slide" Target="slides/slide22.xml"/><Relationship Id="rId29" Type="http://schemas.openxmlformats.org/officeDocument/2006/relationships/slide" Target="slides/slide23.xml"/><Relationship Id="rId30" Type="http://schemas.openxmlformats.org/officeDocument/2006/relationships/slide" Target="slides/slide24.xml"/><Relationship Id="rId31" Type="http://schemas.openxmlformats.org/officeDocument/2006/relationships/slide" Target="slides/slide25.xml"/><Relationship Id="rId32" Type="http://schemas.openxmlformats.org/officeDocument/2006/relationships/slide" Target="slides/slide26.xml"/><Relationship Id="rId33" Type="http://schemas.openxmlformats.org/officeDocument/2006/relationships/slide" Target="slides/slide27.xml"/><Relationship Id="rId34" Type="http://schemas.openxmlformats.org/officeDocument/2006/relationships/slide" Target="slides/slide28.xml"/><Relationship Id="rId35" Type="http://schemas.openxmlformats.org/officeDocument/2006/relationships/slide" Target="slides/slide29.xml"/><Relationship Id="rId36" Type="http://schemas.openxmlformats.org/officeDocument/2006/relationships/slide" Target="slides/slide30.xml"/><Relationship Id="rId37" Type="http://schemas.openxmlformats.org/officeDocument/2006/relationships/slide" Target="slides/slide31.xml"/><Relationship Id="rId38" Type="http://schemas.openxmlformats.org/officeDocument/2006/relationships/slide" Target="slides/slide32.xml"/><Relationship Id="rId39" Type="http://schemas.openxmlformats.org/officeDocument/2006/relationships/slide" Target="slides/slide33.xml"/><Relationship Id="rId40" Type="http://schemas.openxmlformats.org/officeDocument/2006/relationships/slide" Target="slides/slide34.xml"/><Relationship Id="rId41" Type="http://schemas.openxmlformats.org/officeDocument/2006/relationships/slide" Target="slides/slide35.xml"/><Relationship Id="rId42" Type="http://schemas.openxmlformats.org/officeDocument/2006/relationships/slide" Target="slides/slide36.xml"/><Relationship Id="rId43" Type="http://schemas.openxmlformats.org/officeDocument/2006/relationships/slide" Target="slides/slide37.xml"/><Relationship Id="rId44" Type="http://schemas.openxmlformats.org/officeDocument/2006/relationships/slide" Target="slides/slide38.xml"/><Relationship Id="rId45" Type="http://schemas.openxmlformats.org/officeDocument/2006/relationships/slide" Target="slides/slide39.xml"/><Relationship Id="rId46" Type="http://schemas.openxmlformats.org/officeDocument/2006/relationships/slide" Target="slides/slide40.xml"/><Relationship Id="rId47" Type="http://schemas.openxmlformats.org/officeDocument/2006/relationships/slide" Target="slides/slide41.xml"/><Relationship Id="rId48" Type="http://schemas.openxmlformats.org/officeDocument/2006/relationships/slide" Target="slides/slide42.xml"/><Relationship Id="rId49" Type="http://schemas.openxmlformats.org/officeDocument/2006/relationships/slide" Target="slides/slide43.xml"/><Relationship Id="rId50" Type="http://schemas.openxmlformats.org/officeDocument/2006/relationships/slide" Target="slides/slide44.xml"/><Relationship Id="rId51" Type="http://schemas.openxmlformats.org/officeDocument/2006/relationships/slide" Target="slides/slide45.xml"/><Relationship Id="rId52" Type="http://schemas.openxmlformats.org/officeDocument/2006/relationships/slide" Target="slides/slide46.xml"/><Relationship Id="rId53" Type="http://schemas.openxmlformats.org/officeDocument/2006/relationships/slide" Target="slides/slide47.xml"/><Relationship Id="rId54" Type="http://schemas.openxmlformats.org/officeDocument/2006/relationships/slide" Target="slides/slide48.xml"/><Relationship Id="rId55" Type="http://schemas.openxmlformats.org/officeDocument/2006/relationships/slide" Target="slides/slide49.xml"/><Relationship Id="rId56" Type="http://schemas.openxmlformats.org/officeDocument/2006/relationships/slide" Target="slides/slide50.xml"/><Relationship Id="rId57" Type="http://schemas.openxmlformats.org/officeDocument/2006/relationships/slide" Target="slides/slide51.xml"/><Relationship Id="rId58" Type="http://schemas.openxmlformats.org/officeDocument/2006/relationships/slide" Target="slides/slide52.xml"/><Relationship Id="rId59" Type="http://schemas.openxmlformats.org/officeDocument/2006/relationships/slide" Target="slides/slide53.xml"/><Relationship Id="rId60" Type="http://schemas.openxmlformats.org/officeDocument/2006/relationships/slide" Target="slides/slide54.xml"/><Relationship Id="rId61" Type="http://schemas.openxmlformats.org/officeDocument/2006/relationships/slide" Target="slides/slide55.xml"/><Relationship Id="rId62" Type="http://schemas.openxmlformats.org/officeDocument/2006/relationships/slide" Target="slides/slide56.xml"/><Relationship Id="rId63" Type="http://schemas.openxmlformats.org/officeDocument/2006/relationships/slide" Target="slides/slide57.xml"/><Relationship Id="rId64" Type="http://schemas.openxmlformats.org/officeDocument/2006/relationships/slide" Target="slides/slide58.xml"/><Relationship Id="rId65" Type="http://schemas.openxmlformats.org/officeDocument/2006/relationships/slide" Target="slides/slide59.xml"/><Relationship Id="rId66" Type="http://schemas.openxmlformats.org/officeDocument/2006/relationships/slide" Target="slides/slide60.xml"/><Relationship Id="rId67" Type="http://schemas.openxmlformats.org/officeDocument/2006/relationships/slide" Target="slides/slide61.xml"/><Relationship Id="rId68" Type="http://schemas.openxmlformats.org/officeDocument/2006/relationships/slide" Target="slides/slide62.xml"/><Relationship Id="rId69" Type="http://schemas.openxmlformats.org/officeDocument/2006/relationships/slide" Target="slides/slide63.xml"/><Relationship Id="rId70" Type="http://schemas.openxmlformats.org/officeDocument/2006/relationships/slide" Target="slides/slide64.xml"/><Relationship Id="rId71" Type="http://schemas.openxmlformats.org/officeDocument/2006/relationships/slide" Target="slides/slide65.xml"/><Relationship Id="rId72" Type="http://schemas.openxmlformats.org/officeDocument/2006/relationships/slide" Target="slides/slide66.xml"/><Relationship Id="rId73" Type="http://schemas.openxmlformats.org/officeDocument/2006/relationships/slide" Target="slides/slide67.xml"/><Relationship Id="rId74" Type="http://schemas.openxmlformats.org/officeDocument/2006/relationships/slide" Target="slides/slide68.xml"/><Relationship Id="rId75" Type="http://schemas.openxmlformats.org/officeDocument/2006/relationships/slide" Target="slides/slide69.xml"/><Relationship Id="rId76" Type="http://schemas.openxmlformats.org/officeDocument/2006/relationships/slide" Target="slides/slide70.xml"/><Relationship Id="rId77" Type="http://schemas.openxmlformats.org/officeDocument/2006/relationships/slide" Target="slides/slide71.xml"/><Relationship Id="rId78" Type="http://schemas.openxmlformats.org/officeDocument/2006/relationships/slide" Target="slides/slide72.xml"/><Relationship Id="rId79" Type="http://schemas.openxmlformats.org/officeDocument/2006/relationships/slide" Target="slides/slide73.xml"/><Relationship Id="rId80" Type="http://schemas.openxmlformats.org/officeDocument/2006/relationships/slide" Target="slides/slide74.xml"/><Relationship Id="rId81" Type="http://schemas.openxmlformats.org/officeDocument/2006/relationships/slide" Target="slides/slide75.xml"/><Relationship Id="rId82" Type="http://schemas.openxmlformats.org/officeDocument/2006/relationships/slide" Target="slides/slide76.xml"/><Relationship Id="rId83" Type="http://schemas.openxmlformats.org/officeDocument/2006/relationships/slide" Target="slides/slide77.xml"/><Relationship Id="rId84" Type="http://schemas.openxmlformats.org/officeDocument/2006/relationships/slide" Target="slides/slide78.xml"/><Relationship Id="rId85" Type="http://schemas.openxmlformats.org/officeDocument/2006/relationships/slide" Target="slides/slide79.xml"/><Relationship Id="rId86" Type="http://schemas.openxmlformats.org/officeDocument/2006/relationships/slide" Target="slides/slide80.xml"/><Relationship Id="rId87" Type="http://schemas.openxmlformats.org/officeDocument/2006/relationships/slide" Target="slides/slide81.xml"/><Relationship Id="rId88" Type="http://schemas.openxmlformats.org/officeDocument/2006/relationships/slide" Target="slides/slide82.xml"/><Relationship Id="rId89" Type="http://schemas.openxmlformats.org/officeDocument/2006/relationships/slide" Target="slides/slide83.xml"/><Relationship Id="rId90" Type="http://schemas.openxmlformats.org/officeDocument/2006/relationships/slide" Target="slides/slide84.xml"/><Relationship Id="rId91" Type="http://schemas.openxmlformats.org/officeDocument/2006/relationships/slide" Target="slides/slide85.xml"/><Relationship Id="rId92" Type="http://schemas.openxmlformats.org/officeDocument/2006/relationships/slide" Target="slides/slide86.xml"/><Relationship Id="rId93" Type="http://schemas.openxmlformats.org/officeDocument/2006/relationships/slide" Target="slides/slide87.xml"/><Relationship Id="rId94" Type="http://schemas.openxmlformats.org/officeDocument/2006/relationships/slide" Target="slides/slide88.xml"/><Relationship Id="rId95" Type="http://schemas.openxmlformats.org/officeDocument/2006/relationships/slide" Target="slides/slide89.xml"/><Relationship Id="rId96" Type="http://schemas.openxmlformats.org/officeDocument/2006/relationships/slide" Target="slides/slide90.xml"/><Relationship Id="rId97" Type="http://schemas.openxmlformats.org/officeDocument/2006/relationships/slide" Target="slides/slide91.xml"/><Relationship Id="rId98" Type="http://schemas.openxmlformats.org/officeDocument/2006/relationships/slide" Target="slides/slide92.xml"/><Relationship Id="rId99" Type="http://schemas.openxmlformats.org/officeDocument/2006/relationships/slide" Target="slides/slide93.xml"/><Relationship Id="rId100" Type="http://schemas.openxmlformats.org/officeDocument/2006/relationships/slide" Target="slides/slide94.xml"/><Relationship Id="rId101" Type="http://schemas.openxmlformats.org/officeDocument/2006/relationships/slide" Target="slides/slide95.xml"/><Relationship Id="rId102" Type="http://schemas.openxmlformats.org/officeDocument/2006/relationships/slide" Target="slides/slide96.xml"/><Relationship Id="rId103" Type="http://schemas.openxmlformats.org/officeDocument/2006/relationships/slide" Target="slides/slide97.xml"/><Relationship Id="rId104" Type="http://schemas.openxmlformats.org/officeDocument/2006/relationships/slide" Target="slides/slide98.xml"/><Relationship Id="rId105" Type="http://schemas.openxmlformats.org/officeDocument/2006/relationships/slide" Target="slides/slide99.xml"/><Relationship Id="rId106" Type="http://schemas.openxmlformats.org/officeDocument/2006/relationships/slide" Target="slides/slide100.xml"/><Relationship Id="rId107" Type="http://schemas.openxmlformats.org/officeDocument/2006/relationships/slide" Target="slides/slide101.xml"/><Relationship Id="rId108" Type="http://schemas.openxmlformats.org/officeDocument/2006/relationships/slide" Target="slides/slide102.xml"/><Relationship Id="rId109" Type="http://schemas.openxmlformats.org/officeDocument/2006/relationships/slide" Target="slides/slide103.xml"/><Relationship Id="rId110" Type="http://schemas.openxmlformats.org/officeDocument/2006/relationships/slide" Target="slides/slide104.xml"/><Relationship Id="rId111" Type="http://schemas.openxmlformats.org/officeDocument/2006/relationships/slide" Target="slides/slide105.xml"/><Relationship Id="rId112" Type="http://schemas.openxmlformats.org/officeDocument/2006/relationships/slide" Target="slides/slide106.xml"/><Relationship Id="rId113" Type="http://schemas.openxmlformats.org/officeDocument/2006/relationships/slide" Target="slides/slide107.xml"/><Relationship Id="rId114" Type="http://schemas.openxmlformats.org/officeDocument/2006/relationships/slide" Target="slides/slide108.xml"/><Relationship Id="rId115" Type="http://schemas.openxmlformats.org/officeDocument/2006/relationships/slide" Target="slides/slide109.xml"/><Relationship Id="rId116" Type="http://schemas.openxmlformats.org/officeDocument/2006/relationships/slide" Target="slides/slide110.xml"/><Relationship Id="rId117" Type="http://schemas.openxmlformats.org/officeDocument/2006/relationships/slide" Target="slides/slide111.xml"/><Relationship Id="rId118" Type="http://schemas.openxmlformats.org/officeDocument/2006/relationships/slide" Target="slides/slide112.xml"/><Relationship Id="rId119" Type="http://schemas.openxmlformats.org/officeDocument/2006/relationships/slide" Target="slides/slide113.xml"/><Relationship Id="rId120" Type="http://schemas.openxmlformats.org/officeDocument/2006/relationships/slide" Target="slides/slide114.xml"/><Relationship Id="rId121" Type="http://schemas.openxmlformats.org/officeDocument/2006/relationships/slide" Target="slides/slide115.xml"/><Relationship Id="rId122" Type="http://schemas.openxmlformats.org/officeDocument/2006/relationships/slide" Target="slides/slide116.xml"/><Relationship Id="rId123" Type="http://schemas.openxmlformats.org/officeDocument/2006/relationships/slide" Target="slides/slide117.xml"/><Relationship Id="rId124" Type="http://schemas.openxmlformats.org/officeDocument/2006/relationships/slide" Target="slides/slide118.xml"/><Relationship Id="rId125" Type="http://schemas.openxmlformats.org/officeDocument/2006/relationships/slide" Target="slides/slide119.xml"/><Relationship Id="rId126" Type="http://schemas.openxmlformats.org/officeDocument/2006/relationships/slide" Target="slides/slide120.xml"/><Relationship Id="rId127" Type="http://schemas.openxmlformats.org/officeDocument/2006/relationships/slide" Target="slides/slide121.xml"/><Relationship Id="rId128" Type="http://schemas.openxmlformats.org/officeDocument/2006/relationships/slide" Target="slides/slide122.xml"/><Relationship Id="rId129" Type="http://schemas.openxmlformats.org/officeDocument/2006/relationships/slide" Target="slides/slide123.xml"/><Relationship Id="rId130" Type="http://schemas.openxmlformats.org/officeDocument/2006/relationships/slide" Target="slides/slide124.xml"/><Relationship Id="rId131" Type="http://schemas.openxmlformats.org/officeDocument/2006/relationships/slide" Target="slides/slide125.xml"/><Relationship Id="rId132" Type="http://schemas.openxmlformats.org/officeDocument/2006/relationships/slide" Target="slides/slide126.xml"/><Relationship Id="rId133" Type="http://schemas.openxmlformats.org/officeDocument/2006/relationships/slide" Target="slides/slide127.xml"/><Relationship Id="rId134" Type="http://schemas.openxmlformats.org/officeDocument/2006/relationships/slide" Target="slides/slide128.xml"/><Relationship Id="rId135" Type="http://schemas.openxmlformats.org/officeDocument/2006/relationships/slide" Target="slides/slide129.xml"/><Relationship Id="rId136" Type="http://schemas.openxmlformats.org/officeDocument/2006/relationships/slide" Target="slides/slide130.xml"/><Relationship Id="rId137" Type="http://schemas.openxmlformats.org/officeDocument/2006/relationships/slide" Target="slides/slide131.xml"/><Relationship Id="rId138" Type="http://schemas.openxmlformats.org/officeDocument/2006/relationships/slide" Target="slides/slide132.xml"/><Relationship Id="rId139" Type="http://schemas.openxmlformats.org/officeDocument/2006/relationships/slide" Target="slides/slide133.xml"/><Relationship Id="rId140" Type="http://schemas.openxmlformats.org/officeDocument/2006/relationships/slide" Target="slides/slide134.xml"/><Relationship Id="rId141" Type="http://schemas.openxmlformats.org/officeDocument/2006/relationships/slide" Target="slides/slide135.xml"/><Relationship Id="rId142" Type="http://schemas.openxmlformats.org/officeDocument/2006/relationships/slide" Target="slides/slide136.xml"/><Relationship Id="rId143" Type="http://schemas.openxmlformats.org/officeDocument/2006/relationships/slide" Target="slides/slide137.xml"/><Relationship Id="rId144" Type="http://schemas.openxmlformats.org/officeDocument/2006/relationships/slide" Target="slides/slide138.xml"/><Relationship Id="rId145" Type="http://schemas.openxmlformats.org/officeDocument/2006/relationships/slide" Target="slides/slide139.xml"/><Relationship Id="rId146" Type="http://schemas.openxmlformats.org/officeDocument/2006/relationships/slide" Target="slides/slide140.xml"/><Relationship Id="rId147" Type="http://schemas.openxmlformats.org/officeDocument/2006/relationships/slide" Target="slides/slide141.xml"/><Relationship Id="rId148" Type="http://schemas.openxmlformats.org/officeDocument/2006/relationships/slide" Target="slides/slide142.xml"/><Relationship Id="rId149" Type="http://schemas.openxmlformats.org/officeDocument/2006/relationships/slide" Target="slides/slide143.xml"/><Relationship Id="rId150" Type="http://schemas.openxmlformats.org/officeDocument/2006/relationships/slide" Target="slides/slide144.xml"/><Relationship Id="rId151" Type="http://schemas.openxmlformats.org/officeDocument/2006/relationships/slide" Target="slides/slide145.xml"/><Relationship Id="rId152" Type="http://schemas.openxmlformats.org/officeDocument/2006/relationships/slide" Target="slides/slide146.xml"/><Relationship Id="rId153" Type="http://schemas.openxmlformats.org/officeDocument/2006/relationships/slide" Target="slides/slide147.xml"/><Relationship Id="rId154" Type="http://schemas.openxmlformats.org/officeDocument/2006/relationships/slide" Target="slides/slide148.xml"/><Relationship Id="rId155" Type="http://schemas.openxmlformats.org/officeDocument/2006/relationships/slide" Target="slides/slide149.xml"/><Relationship Id="rId156" Type="http://schemas.openxmlformats.org/officeDocument/2006/relationships/slide" Target="slides/slide150.xml"/><Relationship Id="rId157" Type="http://schemas.openxmlformats.org/officeDocument/2006/relationships/slide" Target="slides/slide151.xml"/><Relationship Id="rId158" Type="http://schemas.openxmlformats.org/officeDocument/2006/relationships/slide" Target="slides/slide152.xml"/><Relationship Id="rId159" Type="http://schemas.openxmlformats.org/officeDocument/2006/relationships/slide" Target="slides/slide153.xml"/><Relationship Id="rId160" Type="http://schemas.openxmlformats.org/officeDocument/2006/relationships/slide" Target="slides/slide154.xml"/><Relationship Id="rId161" Type="http://schemas.openxmlformats.org/officeDocument/2006/relationships/slide" Target="slides/slide155.xml"/><Relationship Id="rId162" Type="http://schemas.openxmlformats.org/officeDocument/2006/relationships/slide" Target="slides/slide156.xml"/><Relationship Id="rId163" Type="http://schemas.openxmlformats.org/officeDocument/2006/relationships/slide" Target="slides/slide157.xml"/><Relationship Id="rId164" Type="http://schemas.openxmlformats.org/officeDocument/2006/relationships/slide" Target="slides/slide158.xml"/><Relationship Id="rId165" Type="http://schemas.openxmlformats.org/officeDocument/2006/relationships/slide" Target="slides/slide159.xml"/><Relationship Id="rId166" Type="http://schemas.openxmlformats.org/officeDocument/2006/relationships/slide" Target="slides/slide160.xml"/><Relationship Id="rId167" Type="http://schemas.openxmlformats.org/officeDocument/2006/relationships/slide" Target="slides/slide161.xml"/><Relationship Id="rId168" Type="http://schemas.openxmlformats.org/officeDocument/2006/relationships/slide" Target="slides/slide162.xml"/><Relationship Id="rId169" Type="http://schemas.openxmlformats.org/officeDocument/2006/relationships/slide" Target="slides/slide163.xml"/><Relationship Id="rId170" Type="http://schemas.openxmlformats.org/officeDocument/2006/relationships/slide" Target="slides/slide164.xml"/><Relationship Id="rId171" Type="http://schemas.openxmlformats.org/officeDocument/2006/relationships/slide" Target="slides/slide165.xml"/><Relationship Id="rId172" Type="http://schemas.openxmlformats.org/officeDocument/2006/relationships/slide" Target="slides/slide166.xml"/><Relationship Id="rId173" Type="http://schemas.openxmlformats.org/officeDocument/2006/relationships/slide" Target="slides/slide167.xml"/><Relationship Id="rId174" Type="http://schemas.openxmlformats.org/officeDocument/2006/relationships/slide" Target="slides/slide168.xml"/><Relationship Id="rId175" Type="http://schemas.openxmlformats.org/officeDocument/2006/relationships/slide" Target="slides/slide169.xml"/><Relationship Id="rId176" Type="http://schemas.openxmlformats.org/officeDocument/2006/relationships/slide" Target="slides/slide170.xml"/><Relationship Id="rId177" Type="http://schemas.openxmlformats.org/officeDocument/2006/relationships/slide" Target="slides/slide171.xml"/><Relationship Id="rId178" Type="http://schemas.openxmlformats.org/officeDocument/2006/relationships/slide" Target="slides/slide172.xml"/><Relationship Id="rId179" Type="http://schemas.openxmlformats.org/officeDocument/2006/relationships/slide" Target="slides/slide173.xml"/><Relationship Id="rId180" Type="http://schemas.openxmlformats.org/officeDocument/2006/relationships/slide" Target="slides/slide174.xml"/><Relationship Id="rId181" Type="http://schemas.openxmlformats.org/officeDocument/2006/relationships/slide" Target="slides/slide175.xml"/><Relationship Id="rId182" Type="http://schemas.openxmlformats.org/officeDocument/2006/relationships/slide" Target="slides/slide176.xml"/><Relationship Id="rId183" Type="http://schemas.openxmlformats.org/officeDocument/2006/relationships/slide" Target="slides/slide177.xml"/><Relationship Id="rId184" Type="http://schemas.openxmlformats.org/officeDocument/2006/relationships/slide" Target="slides/slide178.xml"/><Relationship Id="rId185" Type="http://schemas.openxmlformats.org/officeDocument/2006/relationships/slide" Target="slides/slide179.xml"/><Relationship Id="rId186" Type="http://schemas.openxmlformats.org/officeDocument/2006/relationships/slide" Target="slides/slide180.xml"/><Relationship Id="rId187" Type="http://schemas.openxmlformats.org/officeDocument/2006/relationships/slide" Target="slides/slide181.xml"/><Relationship Id="rId188" Type="http://schemas.openxmlformats.org/officeDocument/2006/relationships/slide" Target="slides/slide182.xml"/><Relationship Id="rId189" Type="http://schemas.openxmlformats.org/officeDocument/2006/relationships/slide" Target="slides/slide183.xml"/><Relationship Id="rId190" Type="http://schemas.openxmlformats.org/officeDocument/2006/relationships/slide" Target="slides/slide184.xml"/><Relationship Id="rId191" Type="http://schemas.openxmlformats.org/officeDocument/2006/relationships/slide" Target="slides/slide185.xml"/><Relationship Id="rId192" Type="http://schemas.openxmlformats.org/officeDocument/2006/relationships/slide" Target="slides/slide186.xml"/><Relationship Id="rId193" Type="http://schemas.openxmlformats.org/officeDocument/2006/relationships/slide" Target="slides/slide187.xml"/><Relationship Id="rId194" Type="http://schemas.openxmlformats.org/officeDocument/2006/relationships/slide" Target="slides/slide188.xml"/><Relationship Id="rId195" Type="http://schemas.openxmlformats.org/officeDocument/2006/relationships/slide" Target="slides/slide189.xml"/><Relationship Id="rId196" Type="http://schemas.openxmlformats.org/officeDocument/2006/relationships/slide" Target="slides/slide190.xml"/><Relationship Id="rId197" Type="http://schemas.openxmlformats.org/officeDocument/2006/relationships/slide" Target="slides/slide191.xml"/><Relationship Id="rId198" Type="http://schemas.openxmlformats.org/officeDocument/2006/relationships/slide" Target="slides/slide192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image" Target="../media/image10.png"/><Relationship Id="rId4" Type="http://schemas.openxmlformats.org/officeDocument/2006/relationships/image" Target="../media/image1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1792" y="411480"/>
            <a:ext cx="3886200" cy="86360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0" y="6355080"/>
            <a:ext cx="12191695" cy="91440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0" y="6446520"/>
            <a:ext cx="4663440" cy="54864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TextBox 4"/>
          <p:cNvSpPr txBox="1"/>
          <p:nvPr/>
        </p:nvSpPr>
        <p:spPr>
          <a:xfrm>
            <a:off x="658368" y="1417320"/>
            <a:ext cx="10881360" cy="53035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3000" b="1">
                <a:solidFill>
                  <a:srgbClr val="F8FAFC"/>
                </a:solidFill>
              </a:rPr>
              <a:t>SCM INVENTORY &amp; DISTRIBUTION PLANNING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58368" y="1984248"/>
            <a:ext cx="1088136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400" b="1">
                <a:solidFill>
                  <a:srgbClr val="FBBF24"/>
                </a:solidFill>
              </a:rPr>
              <a:t>Executive KPI Review • YTD • Weekly • Area • Branch Model Details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58368" y="2468880"/>
            <a:ext cx="10424160" cy="4754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400" b="0">
                <a:solidFill>
                  <a:srgbClr val="94A3B8"/>
                </a:solidFill>
              </a:rPr>
              <a:t>A branded management deck capturing KPI movement, Area stock-out rates, branch risk and Class A/B/C model-level action details.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658368" y="274320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ectangle 8"/>
          <p:cNvSpPr/>
          <p:nvPr/>
        </p:nvSpPr>
        <p:spPr>
          <a:xfrm>
            <a:off x="749808" y="283464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859536" y="285292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MC Class A DoI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859536" y="315468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32 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822959" y="360273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4ADE80"/>
                </a:solidFill>
              </a:rPr>
              <a:t>▼ 3 vs previous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425696" y="274320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ectangle 13"/>
          <p:cNvSpPr/>
          <p:nvPr/>
        </p:nvSpPr>
        <p:spPr>
          <a:xfrm>
            <a:off x="4517136" y="283464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626864" y="285292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MUTI MC DoI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626864" y="315468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104 d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590288" y="360273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F87171"/>
                </a:solidFill>
              </a:rPr>
              <a:t>▲ 12 vs previous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8193024" y="274320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8284464" y="283464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394192" y="285292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Overall Class A Stock-Out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4192" y="315468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357616" y="360273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F87171"/>
                </a:solidFill>
              </a:rPr>
              <a:t>▲ 2 vs previous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58368" y="425196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749808" y="434340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59536" y="436168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Stock-Out Rate · Per Branch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59536" y="466344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2959" y="511149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F87171"/>
                </a:solidFill>
              </a:rPr>
              <a:t>▲ 1 vs previous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4425696" y="4251960"/>
            <a:ext cx="3401568" cy="1207008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Rectangle 28"/>
          <p:cNvSpPr/>
          <p:nvPr/>
        </p:nvSpPr>
        <p:spPr>
          <a:xfrm>
            <a:off x="4517136" y="4343400"/>
            <a:ext cx="50292" cy="1024128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626864" y="4361688"/>
            <a:ext cx="30175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Stock-Out · After PO Balance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626864" y="4663440"/>
            <a:ext cx="30175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4590288" y="5111496"/>
            <a:ext cx="3072384" cy="20116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00" b="1">
                <a:solidFill>
                  <a:srgbClr val="4ADE80"/>
                </a:solidFill>
              </a:rPr>
              <a:t>▼ 0 vs previous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58368" y="6254496"/>
            <a:ext cx="107899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0">
                <a:solidFill>
                  <a:srgbClr val="94A3B8"/>
                </a:solidFill>
              </a:rPr>
              <a:t>Coverage: 8 Areas • 50 Branches • Source: KPI_YTD_Input, KPI_WEEKLY_Input and Raw Distribution data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EXECUTIVE KPI SUMMARY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Latest YTD and Weekly results across the five core Supply Chain KPIs.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06908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99592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KPI</a:t>
            </a:r>
          </a:p>
        </p:txBody>
      </p:sp>
      <p:sp>
        <p:nvSpPr>
          <p:cNvPr id="9" name="Rectangle 8"/>
          <p:cNvSpPr/>
          <p:nvPr/>
        </p:nvSpPr>
        <p:spPr>
          <a:xfrm>
            <a:off x="4727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4764024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YTD</a:t>
            </a:r>
          </a:p>
        </p:txBody>
      </p:sp>
      <p:sp>
        <p:nvSpPr>
          <p:cNvPr id="11" name="Rectangle 10"/>
          <p:cNvSpPr/>
          <p:nvPr/>
        </p:nvSpPr>
        <p:spPr>
          <a:xfrm>
            <a:off x="5870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5907024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YTD Δ</a:t>
            </a:r>
          </a:p>
        </p:txBody>
      </p:sp>
      <p:sp>
        <p:nvSpPr>
          <p:cNvPr id="13" name="Rectangle 12"/>
          <p:cNvSpPr/>
          <p:nvPr/>
        </p:nvSpPr>
        <p:spPr>
          <a:xfrm>
            <a:off x="7013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7050024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Weekly</a:t>
            </a:r>
          </a:p>
        </p:txBody>
      </p:sp>
      <p:sp>
        <p:nvSpPr>
          <p:cNvPr id="15" name="Rectangle 14"/>
          <p:cNvSpPr/>
          <p:nvPr/>
        </p:nvSpPr>
        <p:spPr>
          <a:xfrm>
            <a:off x="8156448" y="1234440"/>
            <a:ext cx="11430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193023" y="1298448"/>
            <a:ext cx="10698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Weekly Δ</a:t>
            </a:r>
          </a:p>
        </p:txBody>
      </p:sp>
      <p:sp>
        <p:nvSpPr>
          <p:cNvPr id="17" name="Rectangle 16"/>
          <p:cNvSpPr/>
          <p:nvPr/>
        </p:nvSpPr>
        <p:spPr>
          <a:xfrm>
            <a:off x="9299448" y="1234440"/>
            <a:ext cx="1371600" cy="30175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9336024" y="1298448"/>
            <a:ext cx="1298448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Direction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58368" y="1609344"/>
            <a:ext cx="406908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94944" y="166420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MC Class A DoI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727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764024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32 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870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07024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-3 d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13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50024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156448" y="160934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193023" y="166420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9" name="Rectangle 28"/>
          <p:cNvSpPr/>
          <p:nvPr/>
        </p:nvSpPr>
        <p:spPr>
          <a:xfrm>
            <a:off x="9299448" y="1609344"/>
            <a:ext cx="13716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9336024" y="166420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Trend ↓</a:t>
            </a:r>
          </a:p>
        </p:txBody>
      </p:sp>
      <p:sp>
        <p:nvSpPr>
          <p:cNvPr id="31" name="Rectangle 30"/>
          <p:cNvSpPr/>
          <p:nvPr/>
        </p:nvSpPr>
        <p:spPr>
          <a:xfrm>
            <a:off x="658368" y="1975104"/>
            <a:ext cx="406908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694944" y="202996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MUTI MC DoI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4727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764024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104 d</a:t>
            </a:r>
          </a:p>
        </p:txBody>
      </p:sp>
      <p:sp>
        <p:nvSpPr>
          <p:cNvPr id="35" name="Rectangle 34"/>
          <p:cNvSpPr/>
          <p:nvPr/>
        </p:nvSpPr>
        <p:spPr>
          <a:xfrm>
            <a:off x="5870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07024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12 d</a:t>
            </a:r>
          </a:p>
        </p:txBody>
      </p:sp>
      <p:sp>
        <p:nvSpPr>
          <p:cNvPr id="37" name="Rectangle 36"/>
          <p:cNvSpPr/>
          <p:nvPr/>
        </p:nvSpPr>
        <p:spPr>
          <a:xfrm>
            <a:off x="7013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7050024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104 d</a:t>
            </a:r>
          </a:p>
        </p:txBody>
      </p:sp>
      <p:sp>
        <p:nvSpPr>
          <p:cNvPr id="39" name="Rectangle 38"/>
          <p:cNvSpPr/>
          <p:nvPr/>
        </p:nvSpPr>
        <p:spPr>
          <a:xfrm>
            <a:off x="8156448" y="197510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193023" y="202996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299448" y="1975104"/>
            <a:ext cx="13716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336024" y="202996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Trend ↓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58368" y="2340864"/>
            <a:ext cx="406908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94944" y="239572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Overall Class A Stock-Out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727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764024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5870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5907024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7013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050024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38%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156448" y="234086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193023" y="239572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-2%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299448" y="2340864"/>
            <a:ext cx="13716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336024" y="239572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Trend ↓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06624"/>
            <a:ext cx="406908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76148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Stock-Out Rate · Per Branch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727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764024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5870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5907024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1%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013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050024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33%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156448" y="2706624"/>
            <a:ext cx="11430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193023" y="276148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299448" y="2706624"/>
            <a:ext cx="1371600" cy="329184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336024" y="276148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Trend ↑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3072384"/>
            <a:ext cx="406908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3127248"/>
            <a:ext cx="399592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Stock-Out · After PO Balance</a:t>
            </a:r>
          </a:p>
        </p:txBody>
      </p:sp>
      <p:sp>
        <p:nvSpPr>
          <p:cNvPr id="69" name="Rectangle 68"/>
          <p:cNvSpPr/>
          <p:nvPr/>
        </p:nvSpPr>
        <p:spPr>
          <a:xfrm>
            <a:off x="4727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764024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870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907024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013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050024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156448" y="3072384"/>
            <a:ext cx="11430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193023" y="3127248"/>
            <a:ext cx="10698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9299448" y="3072384"/>
            <a:ext cx="1371600" cy="329184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336024" y="3127248"/>
            <a:ext cx="1298448" cy="2560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Trend ↓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58368" y="6053328"/>
            <a:ext cx="10881360" cy="2377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950" b="0">
                <a:solidFill>
                  <a:srgbClr val="94A3B8"/>
                </a:solidFill>
              </a:rPr>
              <a:t>Use this page as the quick management checkpoint before reviewing YTD, Weekly, Area and all-Branch drilldowns.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YTD KPI TRENDS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5lyqlv2u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ajhnnqfj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  <p:pic>
        <p:nvPicPr>
          <p:cNvPr id="9" name="Picture 8" descr="tmpll3kbsdq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8368" y="4581144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YTD KPI TRENDS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d91j81w2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o3bi0rkv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WEEKLY KPI TRENDS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i6_1y6i9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62y36k2f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  <p:pic>
        <p:nvPicPr>
          <p:cNvPr id="9" name="Picture 8" descr="tmpx93rlz8j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8368" y="4581144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WEEKLY KPI TRENDS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Average, High, Low and Trend Direction highlight momentum, volatility and emerging exceptions.</a:t>
            </a:r>
          </a:p>
        </p:txBody>
      </p:sp>
      <p:pic>
        <p:nvPicPr>
          <p:cNvPr id="7" name="Picture 6" descr="tmptqqidr06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8368" y="1325880"/>
            <a:ext cx="10881360" cy="1463040"/>
          </a:xfrm>
          <a:prstGeom prst="rect">
            <a:avLst/>
          </a:prstGeom>
        </p:spPr>
      </p:pic>
      <p:pic>
        <p:nvPicPr>
          <p:cNvPr id="8" name="Picture 7" descr="tmpmis5t7rm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368" y="2953512"/>
            <a:ext cx="10881360" cy="1463040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AREA PERFORMANCE · ALL AREAS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Identify Areas and Branches with the highest stock-out exposure and Class A service risk.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658368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749808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859536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Class A Stock-Out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859536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474720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3566160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3675887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Class B Stock-Out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675887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91072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6382512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492240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Class C Stock-Out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492240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9107424" y="1298448"/>
            <a:ext cx="2487168" cy="987552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9198864" y="1389888"/>
            <a:ext cx="50292" cy="80467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308592" y="1408176"/>
            <a:ext cx="21031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Overall Average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308592" y="1709928"/>
            <a:ext cx="2103120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32%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58368" y="2615184"/>
            <a:ext cx="1078992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1">
                <a:solidFill>
                  <a:srgbClr val="FBBF24"/>
                </a:solidFill>
              </a:rPr>
              <a:t>AREA STOCK-OUT RANKING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58368" y="2926080"/>
            <a:ext cx="41148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94944" y="2990088"/>
            <a:ext cx="33832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069848" y="2926080"/>
            <a:ext cx="210312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106424" y="2990088"/>
            <a:ext cx="2029967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3172968" y="2926080"/>
            <a:ext cx="82296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209544" y="2990088"/>
            <a:ext cx="74980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995928" y="2926080"/>
            <a:ext cx="82296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032504" y="2990088"/>
            <a:ext cx="74980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</a:t>
            </a:r>
          </a:p>
        </p:txBody>
      </p:sp>
      <p:sp>
        <p:nvSpPr>
          <p:cNvPr id="32" name="Rectangle 31"/>
          <p:cNvSpPr/>
          <p:nvPr/>
        </p:nvSpPr>
        <p:spPr>
          <a:xfrm>
            <a:off x="4818888" y="2926080"/>
            <a:ext cx="82296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855464" y="2990088"/>
            <a:ext cx="74980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</a:t>
            </a:r>
          </a:p>
        </p:txBody>
      </p:sp>
      <p:sp>
        <p:nvSpPr>
          <p:cNvPr id="34" name="Rectangle 33"/>
          <p:cNvSpPr/>
          <p:nvPr/>
        </p:nvSpPr>
        <p:spPr>
          <a:xfrm>
            <a:off x="5641848" y="2926080"/>
            <a:ext cx="100584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678424" y="2990088"/>
            <a:ext cx="93268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58368" y="32186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694944" y="32735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69848" y="3218688"/>
            <a:ext cx="2103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106424" y="3273552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172968" y="3218688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209544" y="3273552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46%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995928" y="3218688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4032504" y="3273552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4818888" y="3218688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4855464" y="3273552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33%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5641848" y="321868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5678424" y="32735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40%</a:t>
            </a:r>
          </a:p>
        </p:txBody>
      </p:sp>
      <p:sp>
        <p:nvSpPr>
          <p:cNvPr id="48" name="Rectangle 47"/>
          <p:cNvSpPr/>
          <p:nvPr/>
        </p:nvSpPr>
        <p:spPr>
          <a:xfrm>
            <a:off x="658368" y="3483864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694944" y="3538728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0" name="Rectangle 49"/>
          <p:cNvSpPr/>
          <p:nvPr/>
        </p:nvSpPr>
        <p:spPr>
          <a:xfrm>
            <a:off x="1069848" y="3483864"/>
            <a:ext cx="2103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1106424" y="3538728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52" name="Rectangle 51"/>
          <p:cNvSpPr/>
          <p:nvPr/>
        </p:nvSpPr>
        <p:spPr>
          <a:xfrm>
            <a:off x="3172968" y="3483864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209544" y="3538728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995928" y="3483864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4032504" y="3538728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46%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818888" y="3483864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855464" y="3538728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28%</a:t>
            </a:r>
          </a:p>
        </p:txBody>
      </p:sp>
      <p:sp>
        <p:nvSpPr>
          <p:cNvPr id="58" name="Rectangle 57"/>
          <p:cNvSpPr/>
          <p:nvPr/>
        </p:nvSpPr>
        <p:spPr>
          <a:xfrm>
            <a:off x="5641848" y="3483864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5678424" y="3538728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39%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58368" y="3749039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694944" y="380390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9848" y="3749039"/>
            <a:ext cx="2103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106424" y="3803903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64" name="Rectangle 63"/>
          <p:cNvSpPr/>
          <p:nvPr/>
        </p:nvSpPr>
        <p:spPr>
          <a:xfrm>
            <a:off x="3172968" y="3749039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3209544" y="380390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66" name="Rectangle 65"/>
          <p:cNvSpPr/>
          <p:nvPr/>
        </p:nvSpPr>
        <p:spPr>
          <a:xfrm>
            <a:off x="3995928" y="3749039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4032504" y="380390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818888" y="3749039"/>
            <a:ext cx="8229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855464" y="380390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28%</a:t>
            </a:r>
          </a:p>
        </p:txBody>
      </p:sp>
      <p:sp>
        <p:nvSpPr>
          <p:cNvPr id="70" name="Rectangle 69"/>
          <p:cNvSpPr/>
          <p:nvPr/>
        </p:nvSpPr>
        <p:spPr>
          <a:xfrm>
            <a:off x="5641848" y="3749039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5678424" y="3803903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38%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658368" y="4014215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694944" y="4069079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069848" y="4014215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06424" y="4069079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172968" y="4014215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3209544" y="4069079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52%</a:t>
            </a:r>
          </a:p>
        </p:txBody>
      </p:sp>
      <p:sp>
        <p:nvSpPr>
          <p:cNvPr id="78" name="Rectangle 77"/>
          <p:cNvSpPr/>
          <p:nvPr/>
        </p:nvSpPr>
        <p:spPr>
          <a:xfrm>
            <a:off x="3995928" y="4014215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032504" y="4069079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32%</a:t>
            </a:r>
          </a:p>
        </p:txBody>
      </p:sp>
      <p:sp>
        <p:nvSpPr>
          <p:cNvPr id="80" name="Rectangle 79"/>
          <p:cNvSpPr/>
          <p:nvPr/>
        </p:nvSpPr>
        <p:spPr>
          <a:xfrm>
            <a:off x="4818888" y="4014215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4855464" y="4069079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82" name="Rectangle 81"/>
          <p:cNvSpPr/>
          <p:nvPr/>
        </p:nvSpPr>
        <p:spPr>
          <a:xfrm>
            <a:off x="5641848" y="4014215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5678424" y="4069079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84" name="Rectangle 83"/>
          <p:cNvSpPr/>
          <p:nvPr/>
        </p:nvSpPr>
        <p:spPr>
          <a:xfrm>
            <a:off x="658368" y="4279392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694944" y="4334255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069848" y="4279392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1106424" y="4334255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88" name="Rectangle 87"/>
          <p:cNvSpPr/>
          <p:nvPr/>
        </p:nvSpPr>
        <p:spPr>
          <a:xfrm>
            <a:off x="3172968" y="4279392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3209544" y="4334255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90" name="Rectangle 89"/>
          <p:cNvSpPr/>
          <p:nvPr/>
        </p:nvSpPr>
        <p:spPr>
          <a:xfrm>
            <a:off x="3995928" y="4279392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4032504" y="4334255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818888" y="4279392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855464" y="4334255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5641848" y="4279392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5678424" y="4334255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96" name="Rectangle 95"/>
          <p:cNvSpPr/>
          <p:nvPr/>
        </p:nvSpPr>
        <p:spPr>
          <a:xfrm>
            <a:off x="658368" y="45445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694944" y="4599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9848" y="4544568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06424" y="4599431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3172968" y="4544568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09544" y="4599431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3995928" y="4544568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032504" y="4599431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4818888" y="4544568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4855464" y="4599431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5641848" y="454456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5678424" y="4599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658368" y="4809744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694944" y="4864607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069848" y="4809744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1106424" y="4864607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3172968" y="4809744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209544" y="4864607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3995928" y="4809744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4032504" y="4864607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818888" y="4809744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855464" y="4864607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5641848" y="4809744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5678424" y="4864607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658368" y="5074920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94944" y="512978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1069848" y="5074920"/>
            <a:ext cx="2103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1106424" y="5129783"/>
            <a:ext cx="202996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3172968" y="5074920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3209544" y="512978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995928" y="5074920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4032504" y="512978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32%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4818888" y="5074920"/>
            <a:ext cx="8229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4855464" y="5129783"/>
            <a:ext cx="7498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6%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5641848" y="5074920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5678424" y="5129783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903720" y="2615184"/>
            <a:ext cx="4343400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1">
                <a:solidFill>
                  <a:srgbClr val="FBBF24"/>
                </a:solidFill>
              </a:rPr>
              <a:t>TOP BRANCH CLASS A STOCK-OUT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903720" y="2926080"/>
            <a:ext cx="41148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0296" y="2990088"/>
            <a:ext cx="33832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7315200" y="2926080"/>
            <a:ext cx="224028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7351775" y="2990088"/>
            <a:ext cx="216712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555480" y="2926080"/>
            <a:ext cx="96012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592055" y="2990088"/>
            <a:ext cx="88696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0515600" y="2926080"/>
            <a:ext cx="731520" cy="256032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0552176" y="2990088"/>
            <a:ext cx="658368" cy="18288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 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903720" y="32186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940296" y="32735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315200" y="3218688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351775" y="3273552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9555480" y="3218688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9592055" y="3273552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10515600" y="3218688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10552176" y="3273552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903720" y="3483864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940296" y="3538728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7315200" y="3483864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7351775" y="3538728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9555480" y="3483864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9592055" y="3538728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515600" y="3483864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0552176" y="3538728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903720" y="3749039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940296" y="380390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7315200" y="3749039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7351775" y="3803903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9555480" y="3749039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9592055" y="3803903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515600" y="3749039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0552176" y="3803903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903720" y="4014215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940296" y="4069079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315200" y="4014215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351775" y="4069079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9555480" y="4014215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9592055" y="4069079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0515600" y="4014215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0552176" y="4069079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75%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903720" y="4279392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940296" y="4334255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7315200" y="4279392"/>
            <a:ext cx="2240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7351775" y="4334255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555480" y="4279392"/>
            <a:ext cx="9601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592055" y="4334255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10515600" y="4279392"/>
            <a:ext cx="7315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10552176" y="4334255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903720" y="45445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0296" y="4599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7315200" y="4544568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7351775" y="4599431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555480" y="4544568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592055" y="4599431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515600" y="4544568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552176" y="4599431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903720" y="4809744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0296" y="4864607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7315200" y="4809744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7351775" y="4864607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555480" y="4809744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592055" y="4864607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10515600" y="4809744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10552176" y="4864607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903720" y="5074920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940296" y="5129783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315200" y="5074920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351775" y="5129783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9555480" y="5074920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9592055" y="5129783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10515600" y="5074920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10552176" y="5129783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67%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903720" y="5340096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940296" y="5394959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7315200" y="5340096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7351775" y="5394959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555480" y="5340096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592055" y="5394959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515600" y="5340096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552176" y="5394959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903720" y="5605272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6940296" y="5660136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7315200" y="5605272"/>
            <a:ext cx="2240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7351775" y="5660136"/>
            <a:ext cx="21671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9555480" y="5605272"/>
            <a:ext cx="9601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9592055" y="5660136"/>
            <a:ext cx="8869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515600" y="5605272"/>
            <a:ext cx="7315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0552176" y="5660136"/>
            <a:ext cx="6583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60%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CLASS A STOCK-OUT RANKING · 1/3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captured. Highest Class A exposure appears first.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794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7216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8646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9011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6188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99846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 %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59168" y="1234440"/>
            <a:ext cx="1508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7095744" y="1298448"/>
            <a:ext cx="143560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SO / Status Count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58368" y="1554480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94944" y="160934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069848" y="1554480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106424" y="160934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864608" y="155448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90118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961888" y="155448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9846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59168" y="1554480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95744" y="160934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 / 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1778507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183337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1778507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183337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864608" y="1778507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90118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5961888" y="1778507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99846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7059168" y="1778507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7095744" y="183337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 / 1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58368" y="2002536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94944" y="205740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69848" y="2002536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06424" y="205740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4864608" y="200253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0118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43" name="Rectangle 42"/>
          <p:cNvSpPr/>
          <p:nvPr/>
        </p:nvSpPr>
        <p:spPr>
          <a:xfrm>
            <a:off x="5961888" y="200253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599846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059168" y="2002536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095744" y="205740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 / 2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58368" y="2226564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94944" y="228142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069848" y="2226564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106424" y="228142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864608" y="222656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490118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53" name="Rectangle 52"/>
          <p:cNvSpPr/>
          <p:nvPr/>
        </p:nvSpPr>
        <p:spPr>
          <a:xfrm>
            <a:off x="5961888" y="222656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599846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75%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7059168" y="2226564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095744" y="228142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 / 4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58368" y="2450592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94944" y="250545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069848" y="2450592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06424" y="250545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864608" y="245059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90118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63" name="Rectangle 62"/>
          <p:cNvSpPr/>
          <p:nvPr/>
        </p:nvSpPr>
        <p:spPr>
          <a:xfrm>
            <a:off x="5961888" y="245059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599846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059168" y="2450592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095744" y="250545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2674620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272948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9848" y="2674620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06424" y="272948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864608" y="267462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90118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5961888" y="2674620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599846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7059168" y="2674620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7095744" y="272948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7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898648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95351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898648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95351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864608" y="2898648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90118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961888" y="2898648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99846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7059168" y="2898648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095744" y="295351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7</a:t>
            </a:r>
          </a:p>
        </p:txBody>
      </p:sp>
      <p:sp>
        <p:nvSpPr>
          <p:cNvPr id="87" name="Rectangle 86"/>
          <p:cNvSpPr/>
          <p:nvPr/>
        </p:nvSpPr>
        <p:spPr>
          <a:xfrm>
            <a:off x="658368" y="3122676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694944" y="317754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89" name="Rectangle 88"/>
          <p:cNvSpPr/>
          <p:nvPr/>
        </p:nvSpPr>
        <p:spPr>
          <a:xfrm>
            <a:off x="1069848" y="3122676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1106424" y="317754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91" name="Rectangle 90"/>
          <p:cNvSpPr/>
          <p:nvPr/>
        </p:nvSpPr>
        <p:spPr>
          <a:xfrm>
            <a:off x="4864608" y="312267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490118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93" name="Rectangle 92"/>
          <p:cNvSpPr/>
          <p:nvPr/>
        </p:nvSpPr>
        <p:spPr>
          <a:xfrm>
            <a:off x="5961888" y="3122676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599846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67%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7059168" y="3122676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7095744" y="317754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 / 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346704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40156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346704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40156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4864608" y="334670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490118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5961888" y="3346704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599846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63%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7059168" y="3346704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7095744" y="340156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 / 8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658368" y="3570732"/>
            <a:ext cx="4114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694944" y="362559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069848" y="3570732"/>
            <a:ext cx="3794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1106424" y="362559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864608" y="357073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90118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5961888" y="3570732"/>
            <a:ext cx="109728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599846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60%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059168" y="3570732"/>
            <a:ext cx="1508760" cy="210312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095744" y="362559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 / 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58368" y="379476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94944" y="384962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1069848" y="379476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1106424" y="384962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486460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90118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596188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599846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57%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7059168" y="379476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95744" y="384962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/ 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58368" y="401878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94944" y="407365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69848" y="401878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106424" y="407365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486460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0118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596188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599846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7059168" y="401878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7095744" y="407365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/ 8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658368" y="424281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694944" y="429768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069848" y="424281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106424" y="429768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486460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90118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596188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599846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7059168" y="424281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7095744" y="429768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6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46684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52170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46684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52170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86460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90118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96188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99846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7059168" y="446684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7095744" y="452170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4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58368" y="469087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94944" y="474573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69848" y="469087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106424" y="474573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486460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490118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6188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599846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059168" y="469087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7095744" y="474573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4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1490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496976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1490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496976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486460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490118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596188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99846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7059168" y="491490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7095744" y="496976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4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58368" y="513892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94944" y="519379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1069848" y="513892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1106424" y="519379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486460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490118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96188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99846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059168" y="513892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095744" y="519379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6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58368" y="536295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94944" y="541782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069848" y="536295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06424" y="541782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486460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490118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596188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599846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059168" y="536295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095744" y="541782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 / 9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58368" y="558698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94944" y="564184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69848" y="558698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106424" y="564184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486460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490118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596188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99846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059168" y="558698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095744" y="564184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7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58368" y="581101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94944" y="586587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1069848" y="581101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1106424" y="586587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486460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490118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596188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599846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7059168" y="581101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7095744" y="586587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5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603504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608990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603504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608990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86460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90118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96188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99846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7059168" y="603504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7095744" y="608990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5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658368" y="625906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94944" y="631393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1069848" y="625906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1106424" y="631393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486460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490118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596188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599846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7059168" y="625906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7095744" y="631393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5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CLASS A STOCK-OUT RANKING · 2/3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captured. Highest Class A exposure appears first.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794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7216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8646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9011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6188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99846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 %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59168" y="1234440"/>
            <a:ext cx="1508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7095744" y="1298448"/>
            <a:ext cx="143560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SO / Status Count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58368" y="155448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94944" y="160934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069848" y="155448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106424" y="160934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86460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90118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96188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9846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59168" y="155448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95744" y="160934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1778507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183337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1778507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183337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86460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90118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33" name="Rectangle 32"/>
          <p:cNvSpPr/>
          <p:nvPr/>
        </p:nvSpPr>
        <p:spPr>
          <a:xfrm>
            <a:off x="596188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99846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7059168" y="1778507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7095744" y="183337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58368" y="200253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94944" y="205740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69848" y="200253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06424" y="205740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41" name="Rectangle 40"/>
          <p:cNvSpPr/>
          <p:nvPr/>
        </p:nvSpPr>
        <p:spPr>
          <a:xfrm>
            <a:off x="486460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0118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43" name="Rectangle 42"/>
          <p:cNvSpPr/>
          <p:nvPr/>
        </p:nvSpPr>
        <p:spPr>
          <a:xfrm>
            <a:off x="596188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599846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059168" y="200253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095744" y="205740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58368" y="222656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94944" y="228142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069848" y="222656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106424" y="228142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86460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490118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53" name="Rectangle 52"/>
          <p:cNvSpPr/>
          <p:nvPr/>
        </p:nvSpPr>
        <p:spPr>
          <a:xfrm>
            <a:off x="596188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599846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7059168" y="222656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095744" y="228142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 / 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58368" y="245059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94944" y="250545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069848" y="245059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06424" y="250545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86460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90118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63" name="Rectangle 62"/>
          <p:cNvSpPr/>
          <p:nvPr/>
        </p:nvSpPr>
        <p:spPr>
          <a:xfrm>
            <a:off x="596188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599846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059168" y="245059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095744" y="250545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267462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272948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9848" y="267462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06424" y="272948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86460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90118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596188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599846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7059168" y="267462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7095744" y="272948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6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89864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95351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89864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95351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864608" y="289864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90118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961888" y="289864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998464" y="295351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7059168" y="289864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095744" y="295351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6</a:t>
            </a:r>
          </a:p>
        </p:txBody>
      </p:sp>
      <p:sp>
        <p:nvSpPr>
          <p:cNvPr id="87" name="Rectangle 86"/>
          <p:cNvSpPr/>
          <p:nvPr/>
        </p:nvSpPr>
        <p:spPr>
          <a:xfrm>
            <a:off x="658368" y="312267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694944" y="317754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1069848" y="312267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1106424" y="317754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91" name="Rectangle 90"/>
          <p:cNvSpPr/>
          <p:nvPr/>
        </p:nvSpPr>
        <p:spPr>
          <a:xfrm>
            <a:off x="4864608" y="312267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490118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3" name="Rectangle 92"/>
          <p:cNvSpPr/>
          <p:nvPr/>
        </p:nvSpPr>
        <p:spPr>
          <a:xfrm>
            <a:off x="5961888" y="312267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5998464" y="317754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7059168" y="312267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7095744" y="317754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34670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40156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34670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40156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4864608" y="334670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490118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5961888" y="334670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5998464" y="340156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7059168" y="334670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7095744" y="340156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658368" y="357073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694944" y="362559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069848" y="357073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1106424" y="362559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864608" y="357073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90118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5961888" y="357073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5998464" y="362559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059168" y="357073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095744" y="362559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58368" y="379476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94944" y="384962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1069848" y="379476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1106424" y="384962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486460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90118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5961888" y="379476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5998464" y="384962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7059168" y="379476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95744" y="384962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58368" y="401878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94944" y="407365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69848" y="401878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106424" y="407365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486460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0118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5961888" y="401878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5998464" y="407365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7059168" y="401878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7095744" y="407365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658368" y="424281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694944" y="429768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069848" y="424281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106424" y="429768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486460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90118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5961888" y="424281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5998464" y="429768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7059168" y="424281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7095744" y="429768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 / 7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46684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52170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46684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52170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86460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90118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961888" y="446684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998464" y="452170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7059168" y="446684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7095744" y="452170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58368" y="469087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94944" y="474573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69848" y="469087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106424" y="474573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486460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490118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61888" y="469087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5998464" y="474573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059168" y="469087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7095744" y="474573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1490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496976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1490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496976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486460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490118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5961888" y="491490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998464" y="496976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7059168" y="491490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7095744" y="496976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58368" y="513892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94944" y="519379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1069848" y="513892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1106424" y="519379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486460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490118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961888" y="513892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998464" y="519379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059168" y="513892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095744" y="519379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58368" y="536295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94944" y="541782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069848" y="536295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06424" y="541782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486460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490118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5961888" y="536295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5998464" y="541782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059168" y="536295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095744" y="541782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5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58368" y="558698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94944" y="564184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69848" y="558698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106424" y="564184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486460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490118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5961888" y="558698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998464" y="564184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059168" y="558698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095744" y="564184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6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58368" y="581101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94944" y="586587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1069848" y="581101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1106424" y="586587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486460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490118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5961888" y="581101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5998464" y="586587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7059168" y="581101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7095744" y="586587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6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603504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608990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603504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608990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86460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90118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961888" y="603504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998464" y="608990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7059168" y="603504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7095744" y="608990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6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658368" y="6259068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94944" y="631393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1069848" y="6259068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1106424" y="631393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486460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490118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5961888" y="6259068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5998464" y="631393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7059168" y="6259068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7095744" y="631393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7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CLASS A STOCK-OUT RANKING · 3/3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captured. Highest Class A exposure appears first.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794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7216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8646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9011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6188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99846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 %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59168" y="1234440"/>
            <a:ext cx="15087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7095744" y="1298448"/>
            <a:ext cx="143560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SO / Status Count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58368" y="155448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94944" y="160934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069848" y="155448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106424" y="160934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86460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490118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" name="Rectangle 22"/>
          <p:cNvSpPr/>
          <p:nvPr/>
        </p:nvSpPr>
        <p:spPr>
          <a:xfrm>
            <a:off x="5961888" y="155448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998464" y="160934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059168" y="155448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7095744" y="160934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 / 7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1778507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1833372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1778507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1833372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86460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90118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33" name="Rectangle 32"/>
          <p:cNvSpPr/>
          <p:nvPr/>
        </p:nvSpPr>
        <p:spPr>
          <a:xfrm>
            <a:off x="5961888" y="1778507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998464" y="1833372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7059168" y="1778507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7095744" y="1833372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5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58368" y="2002536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94944" y="2057400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69848" y="2002536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06424" y="2057400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41" name="Rectangle 40"/>
          <p:cNvSpPr/>
          <p:nvPr/>
        </p:nvSpPr>
        <p:spPr>
          <a:xfrm>
            <a:off x="486460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0118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43" name="Rectangle 42"/>
          <p:cNvSpPr/>
          <p:nvPr/>
        </p:nvSpPr>
        <p:spPr>
          <a:xfrm>
            <a:off x="5961888" y="2002536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5998464" y="2057400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059168" y="2002536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095744" y="2057400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19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58368" y="2226564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94944" y="2281428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069848" y="2226564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106424" y="2281428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86460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490118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5961888" y="2226564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5998464" y="2281428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7059168" y="2226564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095744" y="2281428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16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58368" y="2450592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94944" y="2505456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069848" y="2450592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106424" y="2505456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86460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90118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63" name="Rectangle 62"/>
          <p:cNvSpPr/>
          <p:nvPr/>
        </p:nvSpPr>
        <p:spPr>
          <a:xfrm>
            <a:off x="5961888" y="2450592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5998464" y="2505456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059168" y="2450592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095744" y="2505456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58368" y="2674620"/>
            <a:ext cx="4114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694944" y="2729484"/>
            <a:ext cx="33832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069848" y="2674620"/>
            <a:ext cx="3794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106424" y="2729484"/>
            <a:ext cx="3721608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86460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90118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5961888" y="2674620"/>
            <a:ext cx="109728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5998464" y="2729484"/>
            <a:ext cx="102412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7059168" y="2674620"/>
            <a:ext cx="1508760" cy="210312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7095744" y="2729484"/>
            <a:ext cx="1435607" cy="1371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 / 2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PERFORMANCE · ALL BRANCHES · 1/3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ranked by Overall Average Stock-Out, then Class A risk.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5661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4930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6360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6725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7332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7698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6476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6842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B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620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98663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C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476488" y="1234440"/>
            <a:ext cx="100584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513063" y="1298448"/>
            <a:ext cx="93268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58368" y="1572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94944" y="16276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848" y="1572768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1106424" y="162763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4636008" y="1572768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4672584" y="162763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733288" y="157276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7698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647688" y="157276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6842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7562088" y="157276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7598663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0%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476488" y="157276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8513063" y="162763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67%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58368" y="18470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4944" y="19019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69848" y="1847088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106424" y="190195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BATANGAS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636008" y="1847088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4672584" y="190195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733288" y="184708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7698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647688" y="184708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6842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562088" y="184708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598663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476488" y="184708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513063" y="19019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53%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658368" y="21214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4944" y="21762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069848" y="2121408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106424" y="217627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3S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36008" y="2121408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672584" y="217627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733288" y="212140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57698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63%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647688" y="212140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6842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73%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7562088" y="2121408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598663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22%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476488" y="2121408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513063" y="217627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52%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58368" y="23957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694944" y="2450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69848" y="239572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106424" y="24505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36008" y="239572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672584" y="24505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69" name="Rectangle 68"/>
          <p:cNvSpPr/>
          <p:nvPr/>
        </p:nvSpPr>
        <p:spPr>
          <a:xfrm>
            <a:off x="5733288" y="23957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57698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647688" y="23957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6842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45%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562088" y="23957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598663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40%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476488" y="239572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513063" y="24505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52%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6700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724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67004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7249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SURALLAH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636008" y="267004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672584" y="27249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733288" y="26700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7698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57%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6647688" y="26700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66842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65%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7562088" y="26700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7598663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32%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476488" y="267004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513063" y="27249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51%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58368" y="294436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694944" y="2999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1069848" y="294436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1106424" y="29992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36008" y="294436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72584" y="29992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5733288" y="294436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57698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47688" y="294436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842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36%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562088" y="294436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598663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17%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476488" y="294436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513063" y="29992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51%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58368" y="32186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694944" y="3273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9848" y="321868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106424" y="32735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PANABO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636008" y="321868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672584" y="32735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5733288" y="321868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57698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6647688" y="321868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66842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562088" y="321868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598663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29%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8476488" y="321868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8513063" y="32735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4930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547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69848" y="349300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06424" y="35478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4636008" y="349300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4672584" y="35478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5733288" y="349300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57698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60%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647688" y="349300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6842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46%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62088" y="349300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98663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44%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476488" y="349300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513063" y="35478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58368" y="37673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944" y="3822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1069848" y="376732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06424" y="38221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TUPI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636008" y="376732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672584" y="38221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5733288" y="37673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7698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71%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647688" y="37673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6842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562088" y="376732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598663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476488" y="376732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513063" y="38221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49%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0416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096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041647"/>
            <a:ext cx="356616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0965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636008" y="4041647"/>
            <a:ext cx="10972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672584" y="40965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33288" y="40416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7698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6647688" y="40416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66842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36%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7562088" y="4041647"/>
            <a:ext cx="9144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7598663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53%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8476488" y="4041647"/>
            <a:ext cx="1005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513063" y="40965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46%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658368" y="4315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694944" y="4370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69848" y="43159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106424" y="43708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4636008" y="43159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4672584" y="43708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57332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7698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66476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66842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75620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7598663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476488" y="43159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8513063" y="43708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58368" y="45902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694944" y="46451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069848" y="45902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06424" y="46451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BANGA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4636008" y="45902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4672584" y="46451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57332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7698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6476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6842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73%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5620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598663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8476488" y="45902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8513063" y="46451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58368" y="48646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944" y="49194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069848" y="48646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106424" y="49194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4636008" y="48646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4672584" y="49194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57332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57698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6476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6842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5620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598663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8476488" y="48646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8513063" y="49194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58368" y="51389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94944" y="51937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1069848" y="51389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1106424" y="51937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36008" y="51389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72584" y="51937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57332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57698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66476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66842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75620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7598663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8476488" y="51389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8513063" y="51937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54132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54681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54132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54681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SURIGAO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636008" y="54132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672584" y="54681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7332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7698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71%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66476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66842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75620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7598663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15%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476488" y="54132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513063" y="54681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41%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56875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5742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69848" y="56875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106424" y="57424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MLANG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4636008" y="56875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4672584" y="57424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57332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57698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476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842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620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98663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476488" y="56875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513063" y="5742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658368" y="59618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694944" y="60167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1069848" y="59618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1106424" y="60167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4636008" y="59618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4672584" y="60167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57332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57698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67%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66476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66842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75620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7598663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19%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8476488" y="59618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8513063" y="60167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PERFORMANCE · ALL BRANCHES · 2/3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ranked by Overall Average Stock-Out, then Class A risk.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5661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4930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6360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6725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7332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7698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6476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6842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B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620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98663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C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476488" y="1234440"/>
            <a:ext cx="100584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513063" y="1298448"/>
            <a:ext cx="93268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58368" y="1572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94944" y="16276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848" y="157276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1106424" y="162763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CATALUNAN GRANDE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4636008" y="157276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4672584" y="162763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7332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7698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6476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6842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75620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7598663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15%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476488" y="157276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8513063" y="162763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58368" y="18470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4944" y="19019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69848" y="184708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106424" y="190195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636008" y="184708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4672584" y="190195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7332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7698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6476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6842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5620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598663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476488" y="184708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513063" y="19019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658368" y="21214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4944" y="21762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069848" y="212140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106424" y="217627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36008" y="212140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672584" y="217627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7332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57698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6476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6842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75620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598663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476488" y="212140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513063" y="217627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58368" y="2395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694944" y="2450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69848" y="23957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106424" y="24505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CABANTIAN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36008" y="23957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672584" y="24505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69" name="Rectangle 68"/>
          <p:cNvSpPr/>
          <p:nvPr/>
        </p:nvSpPr>
        <p:spPr>
          <a:xfrm>
            <a:off x="57332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57698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6476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6842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5620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598663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476488" y="23957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513063" y="24505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670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724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6700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7249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TACURONG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636008" y="26700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672584" y="27249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7332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7698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66476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66842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75620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7598663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476488" y="26700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513063" y="27249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58368" y="2944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694944" y="2999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1069848" y="29443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1106424" y="29992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36008" y="29443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72584" y="29992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57332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57698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476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842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5620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598663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476488" y="29443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513063" y="29992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58368" y="3218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694944" y="3273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9848" y="32186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106424" y="32735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DON CARLOS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636008" y="32186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672584" y="32735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57332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57698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66476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66842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5620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598663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36%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8476488" y="32186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8513063" y="32735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493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547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69848" y="34930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06424" y="35478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ISULAN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4636008" y="34930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4672584" y="35478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57332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57698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6476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6842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620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98663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476488" y="34930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513063" y="35478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58368" y="3767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944" y="3822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1069848" y="37673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06424" y="38221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KABACAN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636008" y="37673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672584" y="38221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57332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7698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6476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6842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44%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5620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598663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476488" y="37673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513063" y="38221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34%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041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096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0416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0965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636008" y="40416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672584" y="40965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332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7698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66476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66842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75620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7598663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8476488" y="40416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513063" y="40965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658368" y="4315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694944" y="4370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69848" y="43159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106424" y="43708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NABUNTURAN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4636008" y="43159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4672584" y="43708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57332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7698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66476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66842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75620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7598663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476488" y="43159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8513063" y="43708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58368" y="45902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694944" y="46451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069848" y="45902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06424" y="46451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4636008" y="45902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4672584" y="46451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57332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7698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6476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6842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5620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598663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19%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8476488" y="45902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8513063" y="46451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58368" y="48646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944" y="49194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069848" y="48646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106424" y="49194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MARBEL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4636008" y="48646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4672584" y="49194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57332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57698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6476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6842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31%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5620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598663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8476488" y="48646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8513063" y="49194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58368" y="51389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94944" y="51937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1069848" y="51389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1106424" y="51937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SURALLAH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36008" y="51389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72584" y="51937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57332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57698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66476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66842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75620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7598663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8476488" y="51389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8513063" y="51937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54132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54681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54132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54681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636008" y="54132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672584" y="54681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7332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7698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66476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66842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75620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7598663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476488" y="54132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513063" y="54681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28%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56875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5742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69848" y="56875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106424" y="57424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MALUNGON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4636008" y="56875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4672584" y="57424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57332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57698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476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842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40%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620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98663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476488" y="56875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513063" y="5742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27%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658368" y="59618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694944" y="60167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1069848" y="59618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1106424" y="60167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BAYUGAN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4636008" y="59618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4672584" y="60167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57332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57698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66476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6684264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22%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7562088" y="59618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7598663" y="60167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8476488" y="59618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8513063" y="60167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BRANCH PERFORMANCE · ALL BRANCHES · 3/3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All branches are ranked by Overall Average Stock-Out, then Class A risk.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4114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383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69848" y="1234440"/>
            <a:ext cx="35661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106424" y="1298448"/>
            <a:ext cx="34930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636008" y="1234440"/>
            <a:ext cx="1097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672584" y="1298448"/>
            <a:ext cx="1024127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7332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57698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6476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684264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B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62088" y="1234440"/>
            <a:ext cx="91440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98663" y="1298448"/>
            <a:ext cx="84124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Class C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476488" y="1234440"/>
            <a:ext cx="100584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513063" y="1298448"/>
            <a:ext cx="93268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Overall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58368" y="1572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94944" y="16276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848" y="157276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1106424" y="162763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SAMAL</a:t>
            </a:r>
          </a:p>
        </p:txBody>
      </p:sp>
      <p:sp>
        <p:nvSpPr>
          <p:cNvPr id="25" name="Rectangle 24"/>
          <p:cNvSpPr/>
          <p:nvPr/>
        </p:nvSpPr>
        <p:spPr>
          <a:xfrm>
            <a:off x="4636008" y="157276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4672584" y="162763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7332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7698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66476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684264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7562088" y="157276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7598663" y="162763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476488" y="157276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8513063" y="162763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58368" y="18470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4944" y="19019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69848" y="184708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106424" y="190195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636008" y="184708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4672584" y="190195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7332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7698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6476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684264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29%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562088" y="184708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7598663" y="190195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476488" y="184708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8513063" y="190195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658368" y="21214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4944" y="21762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069848" y="2121408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106424" y="2176272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36008" y="2121408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672584" y="2176272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5" name="Rectangle 54"/>
          <p:cNvSpPr/>
          <p:nvPr/>
        </p:nvSpPr>
        <p:spPr>
          <a:xfrm>
            <a:off x="57332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57698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57" name="Rectangle 56"/>
          <p:cNvSpPr/>
          <p:nvPr/>
        </p:nvSpPr>
        <p:spPr>
          <a:xfrm>
            <a:off x="66476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6684264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7562088" y="2121408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598663" y="2176272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476488" y="2121408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8513063" y="2176272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58368" y="2395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694944" y="2450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69848" y="23957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106424" y="24505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36008" y="23957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672584" y="24505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69" name="Rectangle 68"/>
          <p:cNvSpPr/>
          <p:nvPr/>
        </p:nvSpPr>
        <p:spPr>
          <a:xfrm>
            <a:off x="57332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57698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6476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684264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10%</a:t>
            </a:r>
          </a:p>
        </p:txBody>
      </p:sp>
      <p:sp>
        <p:nvSpPr>
          <p:cNvPr id="73" name="Rectangle 72"/>
          <p:cNvSpPr/>
          <p:nvPr/>
        </p:nvSpPr>
        <p:spPr>
          <a:xfrm>
            <a:off x="7562088" y="23957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7598663" y="24505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75" name="Rectangle 74"/>
          <p:cNvSpPr/>
          <p:nvPr/>
        </p:nvSpPr>
        <p:spPr>
          <a:xfrm>
            <a:off x="8476488" y="23957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8513063" y="24505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58368" y="2670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694944" y="2724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069848" y="26700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106424" y="27249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4636008" y="26700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4672584" y="27249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83" name="Rectangle 82"/>
          <p:cNvSpPr/>
          <p:nvPr/>
        </p:nvSpPr>
        <p:spPr>
          <a:xfrm>
            <a:off x="57332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57698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85" name="Rectangle 84"/>
          <p:cNvSpPr/>
          <p:nvPr/>
        </p:nvSpPr>
        <p:spPr>
          <a:xfrm>
            <a:off x="66476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6684264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7562088" y="26700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7598663" y="27249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45%</a:t>
            </a:r>
          </a:p>
        </p:txBody>
      </p:sp>
      <p:sp>
        <p:nvSpPr>
          <p:cNvPr id="89" name="Rectangle 88"/>
          <p:cNvSpPr/>
          <p:nvPr/>
        </p:nvSpPr>
        <p:spPr>
          <a:xfrm>
            <a:off x="8476488" y="26700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8513063" y="27249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658368" y="2944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694944" y="2999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1069848" y="29443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1106424" y="29992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STO. TOMAS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36008" y="29443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72584" y="29992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57332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57698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66476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6684264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7562088" y="29443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7598663" y="29992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4%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8476488" y="29443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8513063" y="29992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24%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658368" y="3218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694944" y="3273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069848" y="32186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106424" y="32735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636008" y="32186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672584" y="32735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57332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57698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66476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6684264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7562088" y="32186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7598663" y="32735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8476488" y="32186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8513063" y="32735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23%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493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547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69848" y="34930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06424" y="35478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TIBUNGCO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4636008" y="34930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4672584" y="35478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57332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57698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66476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6684264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50%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62088" y="34930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98663" y="35478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10%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476488" y="34930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513063" y="35478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58368" y="3767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694944" y="3822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1069848" y="37673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06424" y="38221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ALABEL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4636008" y="37673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4672584" y="38221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57332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7698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14%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66476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6684264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42%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7562088" y="37673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7598663" y="38221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8476488" y="37673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8513063" y="38221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19%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658368" y="4041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694944" y="4096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1069848" y="40416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06424" y="40965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POLOMOLOK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636008" y="40416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4672584" y="40965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332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57698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66476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6684264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7562088" y="40416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7598663" y="40965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30%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8476488" y="40416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513063" y="40965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18%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658368" y="4315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694944" y="4370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1069848" y="43159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1106424" y="43708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MARAMAG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4636008" y="43159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4672584" y="43708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57332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57698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66476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6684264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7562088" y="43159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7598663" y="43708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7%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8476488" y="43159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8513063" y="43708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58368" y="45902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694944" y="46451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46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069848" y="459028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06424" y="464515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4636008" y="459028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4672584" y="464515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57332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7698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6476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684264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17%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7562088" y="459028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7598663" y="464515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5%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8476488" y="459028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8513063" y="464515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13%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658368" y="48646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694944" y="49194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47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069848" y="486460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1106424" y="491947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MALUNGON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4636008" y="486460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4672584" y="491947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57332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57698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20%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66476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6684264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7562088" y="486460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7598663" y="491947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8476488" y="486460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8513063" y="491947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7%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58368" y="51389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94944" y="51937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1069848" y="513892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1106424" y="519379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OZAMIZ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36008" y="513892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72584" y="519379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/>
            </a:r>
          </a:p>
        </p:txBody>
      </p:sp>
      <p:sp>
        <p:nvSpPr>
          <p:cNvPr id="209" name="Rectangle 208"/>
          <p:cNvSpPr/>
          <p:nvPr/>
        </p:nvSpPr>
        <p:spPr>
          <a:xfrm>
            <a:off x="57332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57698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66476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6684264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7562088" y="513892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7598663" y="519379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8476488" y="513892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8513063" y="519379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658368" y="54132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694944" y="54681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069848" y="541324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106424" y="546811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GREATWALL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636008" y="541324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672584" y="546811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57332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57698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66476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6684264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7562088" y="541324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7598663" y="546811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476488" y="541324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513063" y="546811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56875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57424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69848" y="5687567"/>
            <a:ext cx="356616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106424" y="5742431"/>
            <a:ext cx="349300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CALAMBA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4636008" y="5687567"/>
            <a:ext cx="10972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4672584" y="5742431"/>
            <a:ext cx="1024127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VII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57332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57698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66476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6684264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62088" y="5687567"/>
            <a:ext cx="9144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98663" y="5742431"/>
            <a:ext cx="8412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476488" y="5687567"/>
            <a:ext cx="1005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513063" y="5742431"/>
            <a:ext cx="932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0%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OZAMIZ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—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OZAMIZ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—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58368" y="2715768"/>
            <a:ext cx="1051560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0">
                <a:solidFill>
                  <a:srgbClr val="94A3B8"/>
                </a:solidFill>
              </a:rPr>
              <a:t>No Class B model rows available for this branch.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OZAMIZ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—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58368" y="2715768"/>
            <a:ext cx="1051560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0">
                <a:solidFill>
                  <a:srgbClr val="94A3B8"/>
                </a:solidFill>
              </a:rPr>
              <a:t>No Class C model rows available for this branch.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ISULAN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ISULAN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ISULAN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SURALLAH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SURALLAH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SURALLAH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STREET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BANGA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BANGA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BANGA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ISULAN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ISULAN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ISULAN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ISULAN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SURALLAH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SURALLAH · CLASS B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SURALLAH · CLASS B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SURALLAH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SURALLAH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TACURONG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TACURONG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TACURONG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CB150X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TACURONG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ROUSER NS125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MARAMAG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MARAMAG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MARAMAG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CB150X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BULUA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BULUA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BULUA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GIXXER 250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DON CARLOS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DON CARLOS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DON CARLOS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250 SX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LAPASAN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LAPASAN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LAPASAN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MANOLO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MANOLO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MANOLO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MARAMAG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13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MARAMAG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MARAMAG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CARB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QUEZON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QUEZON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QUEZON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QUEZON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VALENCIA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VALENCIA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VALENCIA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NABUNTURAN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NABUNTURAN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NABUNTURAN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NABUNTURAN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PANABO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PANABO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PANABO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PANABO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SAMAL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SAMAL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SAMAL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1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96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1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1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1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2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2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84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2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3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3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315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TAGUM 3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TIBUNGCO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TIBUNGCO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TIBUNGCO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III-A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BANSALAN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69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BANSALAN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BANSALAN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KING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CABANTIAN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77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CABANTIAN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CABANTIAN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250 SX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CABANTIAN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CALINAN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CALINAN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CALINAN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KING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CALINAN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CATALUNAN GRANDE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13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CATALUNAN GRANDE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CATALUNAN GRANDE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CATALUNAN GRANDE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DIGOS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28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DIGOS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DIGOS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 RALLY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DIGOS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KLX300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ECOLAND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255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ECOLAND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ECOLAND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 J CROSSOVER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ECOLAND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III-B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KABACAN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11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KABACAN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KABACAN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SPORTY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SUPRA GTR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KABACAN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KIDAPAWAN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KIDAPAWAN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KIDAPAWAN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FI(KICK START)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MIDSAYAP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26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MIDSAYAP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MIDSAYAP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MLANG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42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MLANG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MLANG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IV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MT-03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GREATWALL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532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-532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-176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-282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1080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58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-58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GREATWALL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-335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88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-28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-110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GREATWALL · CLASS C MODELS · 1/3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-459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-29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-79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-23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GREATWALL · CLASS C MODELS · 2/3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-459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-26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STREET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-45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-18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32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GREATWALL · CLASS C MODELS · 3/3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-459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XMAX 300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KORONADAL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KORONADAL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48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KORONADAL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STREET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CUV e: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MALUNGON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26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MALUNGON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HONDA MALUNGON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CB150X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CRF300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EM1 e: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3S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3S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3S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GIXXER 155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SPORT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SKYDRIVE CROSSOVER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3S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250 SX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ALABEL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ALABEL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XMAX 300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ALABEL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MALUNGON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79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MALUNGON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CBS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MALUNGON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MALUNGON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SPORTY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 J CROSSOVER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MARBEL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MARBEL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XMAX 300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MARBEL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SP. ED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BOXER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MARBEL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KING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POLOMOLOK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POLOMOLOK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113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POLOMOLOK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ADV350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FI(MAGS)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POLOMOLOK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TUPI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TUPI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TUPI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GIXXER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CT100B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AIRBLADE 160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ABS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TUPI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-28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W175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BAYUGAN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24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BAYUGAN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BAYUGAN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BOLT150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-7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BAYUGAN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BUTUAN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18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18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54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BUTUAN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39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V-STROM 160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BUTUAN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CRF150R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BUTUAN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 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RSX(DISC)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CABADBARAN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30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CABADBARAN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CABADBARAN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-19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LANCE150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PROSPERIDAD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9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PROSPERIDAD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39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PROSPERIDAD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RC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PROSPERIDAD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SKYGO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WIZARD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SAN FRANCISCO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23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SAN FRANCISCO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41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126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68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SAN FRANCISCO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-17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45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CARGO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315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DR160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SURIGAO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131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SURIGAO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98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MAXIMA Z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S 155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225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SURIGAO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-13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XR150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XTZ125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SMASH(MAGS)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CT100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RS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BATANGAS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5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 ROADSYNC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BATANGAS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GIORNO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CARB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135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BATANGAS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GEAR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ROADSYNC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BATANGAS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49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-46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27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CALAMBA · CLASS A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STD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-9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LEXI 155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BLADE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CALAMBA · CLASS A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34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-34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CALAMBA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58368" y="2715768"/>
            <a:ext cx="1051560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0">
                <a:solidFill>
                  <a:srgbClr val="94A3B8"/>
                </a:solidFill>
              </a:rPr>
              <a:t>No Class B model rows available for this branch.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CALAMBA · CLASS C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58368" y="2715768"/>
            <a:ext cx="1051560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100" b="0">
                <a:solidFill>
                  <a:srgbClr val="94A3B8"/>
                </a:solidFill>
              </a:rPr>
              <a:t>No Class C model rows available for this branch.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STO. TOMAS · CLASS A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10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22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CLICK125 FI SE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Re-order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17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AEROX 155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SNIPER 155 FI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STO. TOMAS · CLASS B MODELS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31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-21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114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(DUAL START)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129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CLICK160 FI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FI ABS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PCX160 STANDARD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Re-order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NMAX155 TECHMAX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TMX150 SUPREMO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ADV160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360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KLX150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ABS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NAVI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45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III FI(DUAL START)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PG-1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STO. TOMAS · CLASS C MODELS · 1/2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-54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FAZZIO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GRAVIS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BRUSKY125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BEAT FI PREM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 FI(SPOKE)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270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SMASH(SPOKE)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TMX ALPHA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YTX125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90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49560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50109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69848" y="49560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106424" y="50109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2212848" y="49560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2249424" y="50109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ACCESS 125 RIDE CONNECT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6647688" y="49560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6684264" y="50109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8293608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8330183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9006840" y="49560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9043415" y="50109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9875519" y="49560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9912095" y="50109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658368" y="52303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694944" y="52852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1069848" y="52303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1106424" y="52852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2212848" y="52303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2249424" y="52852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AVENIS125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6647688" y="52303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6684264" y="52852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8293608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8330183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9006840" y="52303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9043415" y="52852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9875519" y="52303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9912095" y="52852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658368" y="55046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694944" y="55595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1069848" y="55046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1106424" y="55595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2212848" y="55046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2249424" y="55595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BAJAJ RE 4S FI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6647688" y="55046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6684264" y="55595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8293608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8330183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9006840" y="55046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9043415" y="55595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9875519" y="55046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9912095" y="55595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658368" y="57790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694944" y="58338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69848" y="57790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106424" y="58338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2212848" y="57790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2249424" y="58338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BARAKO II (KICK START)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647688" y="57790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684264" y="58338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8293608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8330183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9006840" y="57790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9043415" y="58338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-5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875519" y="57790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912095" y="58338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58368" y="60533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694944" y="61081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069848" y="60533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06424" y="61081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2212848" y="60533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2249424" y="61081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 STREET EX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6647688" y="60533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6684264" y="61081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293608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330183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9006840" y="60533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9043415" y="61081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9875519" y="60533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9912095" y="61081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658368" y="63276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694944" y="63825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069848" y="63276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1106424" y="63825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2212848" y="63276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2249424" y="63825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BURGMAN15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6647688" y="63276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6684264" y="63825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8293608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8330183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9006840" y="63276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9043415" y="63825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-6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9875519" y="63276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9912095" y="63825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658368" y="660196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694944" y="66568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1069848" y="660196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1106424" y="66568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2212848" y="660196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2249424" y="66568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CRF150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647688" y="660196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684264" y="66568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293608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330183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006840" y="660196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043415" y="66568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9875519" y="660196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9912095" y="66568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MUTI STO. TOMAS · CLASS C MODELS · 2/2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AREA VII • Stock Status, Inventory, Suggested Transfer and DoI are separated by Class for branch-level action.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75488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ectangle 7"/>
          <p:cNvSpPr/>
          <p:nvPr/>
        </p:nvSpPr>
        <p:spPr>
          <a:xfrm>
            <a:off x="566928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676656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Models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6656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743200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2834640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944368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Risk Items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944368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010912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Rectangle 15"/>
          <p:cNvSpPr/>
          <p:nvPr/>
        </p:nvSpPr>
        <p:spPr>
          <a:xfrm>
            <a:off x="5102352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5212080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Inventory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12080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57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278623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7370063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479792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Suggested Transfer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79792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-54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9546336" y="1143000"/>
            <a:ext cx="1993392" cy="768096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Rectangle 23"/>
          <p:cNvSpPr/>
          <p:nvPr/>
        </p:nvSpPr>
        <p:spPr>
          <a:xfrm>
            <a:off x="9637776" y="1234440"/>
            <a:ext cx="50292" cy="585215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747504" y="1252728"/>
            <a:ext cx="1609344" cy="2286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850" b="1">
                <a:solidFill>
                  <a:srgbClr val="94A3B8"/>
                </a:solidFill>
              </a:rPr>
              <a:t>Avg DoI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47504" y="1554480"/>
            <a:ext cx="1609344" cy="38404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54 d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58368" y="2148840"/>
            <a:ext cx="4114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694944" y="2212848"/>
            <a:ext cx="3383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9848" y="2148840"/>
            <a:ext cx="114300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106424" y="2212848"/>
            <a:ext cx="106984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Brand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212848" y="2148840"/>
            <a:ext cx="443484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2249424" y="2212848"/>
            <a:ext cx="436168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647688" y="2148840"/>
            <a:ext cx="164592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6684264" y="2212848"/>
            <a:ext cx="157276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Stock Status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293608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330183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006840" y="2148840"/>
            <a:ext cx="868680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043415" y="2212848"/>
            <a:ext cx="795528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Sug. Trf</a:t>
            </a:r>
          </a:p>
        </p:txBody>
      </p:sp>
      <p:sp>
        <p:nvSpPr>
          <p:cNvPr id="39" name="Rectangle 38"/>
          <p:cNvSpPr/>
          <p:nvPr/>
        </p:nvSpPr>
        <p:spPr>
          <a:xfrm>
            <a:off x="9875519" y="2148840"/>
            <a:ext cx="713232" cy="292608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9912095" y="2212848"/>
            <a:ext cx="640080" cy="21945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58368" y="24871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94944" y="254203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9848" y="24871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106424" y="254203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KAWASAKI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12848" y="24871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249424" y="254203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CT125</a:t>
            </a:r>
          </a:p>
        </p:txBody>
      </p:sp>
      <p:sp>
        <p:nvSpPr>
          <p:cNvPr id="47" name="Rectangle 46"/>
          <p:cNvSpPr/>
          <p:nvPr/>
        </p:nvSpPr>
        <p:spPr>
          <a:xfrm>
            <a:off x="6647688" y="24871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684264" y="254203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293608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330183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006840" y="24871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9043415" y="254203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875519" y="24871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912095" y="254203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76148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81635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69848" y="276148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06424" y="281635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212848" y="276148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249424" y="281635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</a:t>
            </a:r>
          </a:p>
        </p:txBody>
      </p:sp>
      <p:sp>
        <p:nvSpPr>
          <p:cNvPr id="61" name="Rectangle 60"/>
          <p:cNvSpPr/>
          <p:nvPr/>
        </p:nvSpPr>
        <p:spPr>
          <a:xfrm>
            <a:off x="6647688" y="276148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6684264" y="281635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63" name="Rectangle 62"/>
          <p:cNvSpPr/>
          <p:nvPr/>
        </p:nvSpPr>
        <p:spPr>
          <a:xfrm>
            <a:off x="8293608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330183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006840" y="276148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9043415" y="281635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9875519" y="276148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9912095" y="281635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658368" y="303580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694944" y="3090672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69848" y="303580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1106424" y="3090672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YAMAHA</a:t>
            </a:r>
          </a:p>
        </p:txBody>
      </p:sp>
      <p:sp>
        <p:nvSpPr>
          <p:cNvPr id="73" name="Rectangle 72"/>
          <p:cNvSpPr/>
          <p:nvPr/>
        </p:nvSpPr>
        <p:spPr>
          <a:xfrm>
            <a:off x="2212848" y="303580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2249424" y="3090672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MIO i125s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6647688" y="303580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6684264" y="3090672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77" name="Rectangle 76"/>
          <p:cNvSpPr/>
          <p:nvPr/>
        </p:nvSpPr>
        <p:spPr>
          <a:xfrm>
            <a:off x="8293608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330183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9006840" y="303580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9043415" y="3090672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9875519" y="303580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9912095" y="3090672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58368" y="33101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694944" y="33649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85" name="Rectangle 84"/>
          <p:cNvSpPr/>
          <p:nvPr/>
        </p:nvSpPr>
        <p:spPr>
          <a:xfrm>
            <a:off x="1069848" y="33101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1106424" y="33649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SUZUKI</a:t>
            </a:r>
          </a:p>
        </p:txBody>
      </p:sp>
      <p:sp>
        <p:nvSpPr>
          <p:cNvPr id="87" name="Rectangle 86"/>
          <p:cNvSpPr/>
          <p:nvPr/>
        </p:nvSpPr>
        <p:spPr>
          <a:xfrm>
            <a:off x="2212848" y="33101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249424" y="33649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RAIDER150 FI PRO</a:t>
            </a:r>
          </a:p>
        </p:txBody>
      </p:sp>
      <p:sp>
        <p:nvSpPr>
          <p:cNvPr id="89" name="Rectangle 88"/>
          <p:cNvSpPr/>
          <p:nvPr/>
        </p:nvSpPr>
        <p:spPr>
          <a:xfrm>
            <a:off x="6647688" y="33101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6684264" y="33649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293608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330183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93" name="Rectangle 92"/>
          <p:cNvSpPr/>
          <p:nvPr/>
        </p:nvSpPr>
        <p:spPr>
          <a:xfrm>
            <a:off x="9006840" y="33101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9043415" y="33649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9875519" y="33101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9912095" y="33649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97" name="Rectangle 96"/>
          <p:cNvSpPr/>
          <p:nvPr/>
        </p:nvSpPr>
        <p:spPr>
          <a:xfrm>
            <a:off x="658368" y="358444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694944" y="363931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21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069848" y="358444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1106424" y="363931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2212848" y="358444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2249424" y="363931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WAVE RSX (DRUM)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647688" y="358444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684264" y="363931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8293608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8330183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9006840" y="358444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9043415" y="363931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9875519" y="358444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9912095" y="363931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658368" y="3858768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694944" y="391363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22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69848" y="3858768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106424" y="391363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2212848" y="3858768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249424" y="391363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WINNER X STD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6647688" y="3858768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6684264" y="391363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8293608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8330183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9006840" y="3858768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9043415" y="391363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-3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9875519" y="3858768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9912095" y="391363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658368" y="413308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694944" y="418795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23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1069848" y="413308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1106424" y="418795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2212848" y="413308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2249424" y="418795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DUAL SPORTS FI(DS)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6647688" y="413308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6684264" y="418795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8293608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8330183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9006840" y="413308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9043415" y="418795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-4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9875519" y="413308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9912095" y="418795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658368" y="440740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694944" y="446227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24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1069848" y="440740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1106424" y="446227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2212848" y="440740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249424" y="446227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MOTARD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6647688" y="440740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6684264" y="446227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293608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330183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006840" y="440740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043415" y="446227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-2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9875519" y="440740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9912095" y="446227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658368" y="4681727"/>
            <a:ext cx="4114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4944" y="4736591"/>
            <a:ext cx="3383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25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069848" y="4681727"/>
            <a:ext cx="114300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106424" y="4736591"/>
            <a:ext cx="106984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2212848" y="4681727"/>
            <a:ext cx="443484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2249424" y="4736591"/>
            <a:ext cx="436168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XRM OFFROAD FI(DSX)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6647688" y="4681727"/>
            <a:ext cx="164592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6684264" y="4736591"/>
            <a:ext cx="157276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Over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8293608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8330183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9006840" y="4681727"/>
            <a:ext cx="868680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9043415" y="4736591"/>
            <a:ext cx="795528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-8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875519" y="4681727"/>
            <a:ext cx="713232" cy="246888"/>
          </a:xfrm>
          <a:prstGeom prst="rect">
            <a:avLst/>
          </a:prstGeom>
          <a:solidFill>
            <a:srgbClr val="121D30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912095" y="4736591"/>
            <a:ext cx="640080" cy="17373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pic>
        <p:nvPicPr>
          <p:cNvPr id="2" name="Picture 1" descr="brilliant4_log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69680" y="292608"/>
            <a:ext cx="2606040" cy="57912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94360" y="329184"/>
            <a:ext cx="7955279" cy="42062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200" b="1">
                <a:solidFill>
                  <a:srgbClr val="F8FAFC"/>
                </a:solidFill>
              </a:rPr>
              <a:t>ALL-BRANCH MODEL PRIORITY SNAPSHOT</a:t>
            </a:r>
          </a:p>
        </p:txBody>
      </p:sp>
      <p:sp>
        <p:nvSpPr>
          <p:cNvPr id="4" name="Rectangle 3"/>
          <p:cNvSpPr/>
          <p:nvPr/>
        </p:nvSpPr>
        <p:spPr>
          <a:xfrm>
            <a:off x="594360" y="841248"/>
            <a:ext cx="1417320" cy="50292"/>
          </a:xfrm>
          <a:prstGeom prst="rect">
            <a:avLst/>
          </a:prstGeom>
          <a:solidFill>
            <a:srgbClr val="14B8A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2029968" y="841248"/>
            <a:ext cx="640080" cy="50292"/>
          </a:xfrm>
          <a:prstGeom prst="rect">
            <a:avLst/>
          </a:prstGeom>
          <a:solidFill>
            <a:srgbClr val="FBBF2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TextBox 5"/>
          <p:cNvSpPr txBox="1"/>
          <p:nvPr/>
        </p:nvSpPr>
        <p:spPr>
          <a:xfrm>
            <a:off x="594360" y="941832"/>
            <a:ext cx="9326880" cy="3200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000" b="0">
                <a:solidFill>
                  <a:srgbClr val="94A3B8"/>
                </a:solidFill>
              </a:rPr>
              <a:t>Top model-level exceptions from branch Model Intelligence, prioritizing Class A and stock-risk conditions.</a:t>
            </a:r>
          </a:p>
        </p:txBody>
      </p:sp>
      <p:sp>
        <p:nvSpPr>
          <p:cNvPr id="7" name="Rectangle 6"/>
          <p:cNvSpPr/>
          <p:nvPr/>
        </p:nvSpPr>
        <p:spPr>
          <a:xfrm>
            <a:off x="658368" y="1234440"/>
            <a:ext cx="3840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TextBox 7"/>
          <p:cNvSpPr txBox="1"/>
          <p:nvPr/>
        </p:nvSpPr>
        <p:spPr>
          <a:xfrm>
            <a:off x="694944" y="1298448"/>
            <a:ext cx="3108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#</a:t>
            </a:r>
          </a:p>
        </p:txBody>
      </p:sp>
      <p:sp>
        <p:nvSpPr>
          <p:cNvPr id="9" name="Rectangle 8"/>
          <p:cNvSpPr/>
          <p:nvPr/>
        </p:nvSpPr>
        <p:spPr>
          <a:xfrm>
            <a:off x="1042415" y="1234440"/>
            <a:ext cx="8412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TextBox 9"/>
          <p:cNvSpPr txBox="1"/>
          <p:nvPr/>
        </p:nvSpPr>
        <p:spPr>
          <a:xfrm>
            <a:off x="1078992" y="1298448"/>
            <a:ext cx="768096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Area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883664" y="1234440"/>
            <a:ext cx="224028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920240" y="1298448"/>
            <a:ext cx="216712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Branch</a:t>
            </a:r>
          </a:p>
        </p:txBody>
      </p:sp>
      <p:sp>
        <p:nvSpPr>
          <p:cNvPr id="13" name="Rectangle 12"/>
          <p:cNvSpPr/>
          <p:nvPr/>
        </p:nvSpPr>
        <p:spPr>
          <a:xfrm>
            <a:off x="4123944" y="1234440"/>
            <a:ext cx="50292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160520" y="1298448"/>
            <a:ext cx="42976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Cls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626864" y="1234440"/>
            <a:ext cx="28803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663440" y="1298448"/>
            <a:ext cx="28072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Model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507223" y="1234440"/>
            <a:ext cx="1298448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7543799" y="1298448"/>
            <a:ext cx="1225295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Status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805672" y="1234440"/>
            <a:ext cx="5943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8842247" y="1298448"/>
            <a:ext cx="5212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Inv</a:t>
            </a:r>
          </a:p>
        </p:txBody>
      </p:sp>
      <p:sp>
        <p:nvSpPr>
          <p:cNvPr id="21" name="Rectangle 20"/>
          <p:cNvSpPr/>
          <p:nvPr/>
        </p:nvSpPr>
        <p:spPr>
          <a:xfrm>
            <a:off x="9400032" y="1234440"/>
            <a:ext cx="594360" cy="274320"/>
          </a:xfrm>
          <a:prstGeom prst="rect">
            <a:avLst/>
          </a:prstGeom>
          <a:solidFill>
            <a:srgbClr val="0A2336"/>
          </a:solidFill>
          <a:ln>
            <a:solidFill>
              <a:srgbClr val="2B4C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9436607" y="1298448"/>
            <a:ext cx="521208" cy="20116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80" b="1">
                <a:solidFill>
                  <a:srgbClr val="F8FAFC"/>
                </a:solidFill>
              </a:rPr>
              <a:t>DoI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58368" y="1554480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94944" y="1609344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042415" y="1554480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078992" y="1609344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883664" y="1554480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920240" y="1609344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ISULAN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123944" y="1554480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0520" y="1609344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4626864" y="1554480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4663440" y="1609344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3" name="Rectangle 32"/>
          <p:cNvSpPr/>
          <p:nvPr/>
        </p:nvSpPr>
        <p:spPr>
          <a:xfrm>
            <a:off x="7507223" y="1554480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7543799" y="1609344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5" name="Rectangle 34"/>
          <p:cNvSpPr/>
          <p:nvPr/>
        </p:nvSpPr>
        <p:spPr>
          <a:xfrm>
            <a:off x="8805672" y="155448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842247" y="160934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400032" y="155448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436607" y="160934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58368" y="1796795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694944" y="1851660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042415" y="1796795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1078992" y="1851660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883664" y="1796795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20240" y="1851660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BULUA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123944" y="1796795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160520" y="1851660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626864" y="1796795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663440" y="1851660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49" name="Rectangle 48"/>
          <p:cNvSpPr/>
          <p:nvPr/>
        </p:nvSpPr>
        <p:spPr>
          <a:xfrm>
            <a:off x="7507223" y="1796795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543799" y="1851660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805672" y="179679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842247" y="185166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9400032" y="179679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9436607" y="185166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58368" y="2039112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94944" y="2093976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042415" y="2039112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078992" y="2093976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883664" y="2039112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920240" y="2093976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LAPASAN</a:t>
            </a:r>
          </a:p>
        </p:txBody>
      </p:sp>
      <p:sp>
        <p:nvSpPr>
          <p:cNvPr id="61" name="Rectangle 60"/>
          <p:cNvSpPr/>
          <p:nvPr/>
        </p:nvSpPr>
        <p:spPr>
          <a:xfrm>
            <a:off x="4123944" y="2039112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4160520" y="2093976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63" name="Rectangle 62"/>
          <p:cNvSpPr/>
          <p:nvPr/>
        </p:nvSpPr>
        <p:spPr>
          <a:xfrm>
            <a:off x="4626864" y="2039112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4663440" y="2093976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65" name="Rectangle 64"/>
          <p:cNvSpPr/>
          <p:nvPr/>
        </p:nvSpPr>
        <p:spPr>
          <a:xfrm>
            <a:off x="7507223" y="2039112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7543799" y="2093976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805672" y="203911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842247" y="209397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69" name="Rectangle 68"/>
          <p:cNvSpPr/>
          <p:nvPr/>
        </p:nvSpPr>
        <p:spPr>
          <a:xfrm>
            <a:off x="9400032" y="203911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9436607" y="209397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71" name="Rectangle 70"/>
          <p:cNvSpPr/>
          <p:nvPr/>
        </p:nvSpPr>
        <p:spPr>
          <a:xfrm>
            <a:off x="658368" y="2281428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694944" y="2336292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4</a:t>
            </a:r>
          </a:p>
        </p:txBody>
      </p:sp>
      <p:sp>
        <p:nvSpPr>
          <p:cNvPr id="73" name="Rectangle 72"/>
          <p:cNvSpPr/>
          <p:nvPr/>
        </p:nvSpPr>
        <p:spPr>
          <a:xfrm>
            <a:off x="1042415" y="2281428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1078992" y="2336292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75" name="Rectangle 74"/>
          <p:cNvSpPr/>
          <p:nvPr/>
        </p:nvSpPr>
        <p:spPr>
          <a:xfrm>
            <a:off x="1883664" y="2281428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1920240" y="2336292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MANOLO</a:t>
            </a:r>
          </a:p>
        </p:txBody>
      </p:sp>
      <p:sp>
        <p:nvSpPr>
          <p:cNvPr id="77" name="Rectangle 76"/>
          <p:cNvSpPr/>
          <p:nvPr/>
        </p:nvSpPr>
        <p:spPr>
          <a:xfrm>
            <a:off x="4123944" y="2281428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160520" y="2336292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79" name="Rectangle 78"/>
          <p:cNvSpPr/>
          <p:nvPr/>
        </p:nvSpPr>
        <p:spPr>
          <a:xfrm>
            <a:off x="4626864" y="2281428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4663440" y="2336292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81" name="Rectangle 80"/>
          <p:cNvSpPr/>
          <p:nvPr/>
        </p:nvSpPr>
        <p:spPr>
          <a:xfrm>
            <a:off x="7507223" y="2281428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543799" y="2336292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83" name="Rectangle 82"/>
          <p:cNvSpPr/>
          <p:nvPr/>
        </p:nvSpPr>
        <p:spPr>
          <a:xfrm>
            <a:off x="8805672" y="228142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8842247" y="233629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85" name="Rectangle 84"/>
          <p:cNvSpPr/>
          <p:nvPr/>
        </p:nvSpPr>
        <p:spPr>
          <a:xfrm>
            <a:off x="9400032" y="228142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9436607" y="233629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87" name="Rectangle 86"/>
          <p:cNvSpPr/>
          <p:nvPr/>
        </p:nvSpPr>
        <p:spPr>
          <a:xfrm>
            <a:off x="658368" y="2523744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694944" y="2578608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89" name="Rectangle 88"/>
          <p:cNvSpPr/>
          <p:nvPr/>
        </p:nvSpPr>
        <p:spPr>
          <a:xfrm>
            <a:off x="1042415" y="2523744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1078992" y="2578608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883664" y="2523744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1920240" y="2578608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MARAMAG</a:t>
            </a:r>
          </a:p>
        </p:txBody>
      </p:sp>
      <p:sp>
        <p:nvSpPr>
          <p:cNvPr id="93" name="Rectangle 92"/>
          <p:cNvSpPr/>
          <p:nvPr/>
        </p:nvSpPr>
        <p:spPr>
          <a:xfrm>
            <a:off x="4123944" y="2523744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4160520" y="2578608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95" name="Rectangle 94"/>
          <p:cNvSpPr/>
          <p:nvPr/>
        </p:nvSpPr>
        <p:spPr>
          <a:xfrm>
            <a:off x="4626864" y="2523744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4663440" y="2578608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507223" y="2523744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7543799" y="2578608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8805672" y="252374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TextBox 99"/>
          <p:cNvSpPr txBox="1"/>
          <p:nvPr/>
        </p:nvSpPr>
        <p:spPr>
          <a:xfrm>
            <a:off x="8842247" y="257860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9400032" y="252374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9436607" y="257860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103" name="Rectangle 102"/>
          <p:cNvSpPr/>
          <p:nvPr/>
        </p:nvSpPr>
        <p:spPr>
          <a:xfrm>
            <a:off x="658368" y="2766060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694944" y="2820924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042415" y="2766060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1078992" y="2820924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1883664" y="2766060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1920240" y="2820924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QUEZON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123944" y="2766060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160520" y="2820924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626864" y="2766060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663440" y="2820924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7507223" y="2766060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7543799" y="2820924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15" name="Rectangle 114"/>
          <p:cNvSpPr/>
          <p:nvPr/>
        </p:nvSpPr>
        <p:spPr>
          <a:xfrm>
            <a:off x="8805672" y="276606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8842247" y="282092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117" name="Rectangle 116"/>
          <p:cNvSpPr/>
          <p:nvPr/>
        </p:nvSpPr>
        <p:spPr>
          <a:xfrm>
            <a:off x="9400032" y="276606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9436607" y="282092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58368" y="3008376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694944" y="3063240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7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042415" y="3008376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078992" y="3063240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1883664" y="3008376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920240" y="3063240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VALENCIA</a:t>
            </a:r>
          </a:p>
        </p:txBody>
      </p:sp>
      <p:sp>
        <p:nvSpPr>
          <p:cNvPr id="125" name="Rectangle 124"/>
          <p:cNvSpPr/>
          <p:nvPr/>
        </p:nvSpPr>
        <p:spPr>
          <a:xfrm>
            <a:off x="4123944" y="3008376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4160520" y="3063240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27" name="Rectangle 126"/>
          <p:cNvSpPr/>
          <p:nvPr/>
        </p:nvSpPr>
        <p:spPr>
          <a:xfrm>
            <a:off x="4626864" y="3008376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663440" y="3063240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507223" y="3008376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7543799" y="3063240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31" name="Rectangle 130"/>
          <p:cNvSpPr/>
          <p:nvPr/>
        </p:nvSpPr>
        <p:spPr>
          <a:xfrm>
            <a:off x="8805672" y="300837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8842247" y="306324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9400032" y="300837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9436607" y="306324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658368" y="3250692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694944" y="3305556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8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1042415" y="3250692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1078992" y="3305556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1883664" y="3250692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1920240" y="3305556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2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4123944" y="3250692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160520" y="3305556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4626864" y="3250692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4663440" y="3305556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7507223" y="3250692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7543799" y="3305556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8805672" y="325069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8842247" y="330555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4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9400032" y="325069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9436607" y="330555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58368" y="3493008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94944" y="3547872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9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1042415" y="3493008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1078992" y="3547872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III-A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1883664" y="3493008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1920240" y="3547872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TAGUM 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4123944" y="3493008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4160520" y="3547872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4626864" y="3493008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4663440" y="3547872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7507223" y="3493008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7543799" y="3547872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805672" y="349300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842247" y="354787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9400032" y="349300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9436607" y="3547872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658368" y="3735324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694944" y="3790188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10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1042415" y="3735324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1078992" y="3790188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883664" y="3735324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1920240" y="3790188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BANSALAN</a:t>
            </a:r>
          </a:p>
        </p:txBody>
      </p:sp>
      <p:sp>
        <p:nvSpPr>
          <p:cNvPr id="173" name="Rectangle 172"/>
          <p:cNvSpPr/>
          <p:nvPr/>
        </p:nvSpPr>
        <p:spPr>
          <a:xfrm>
            <a:off x="4123944" y="3735324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4160520" y="3790188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4626864" y="3735324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4663440" y="3790188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7507223" y="3735324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7543799" y="3790188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8805672" y="373532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8842247" y="379018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9400032" y="3735324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9436607" y="3790188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658368" y="3977640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94944" y="4032504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11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1042415" y="3977640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1078992" y="4032504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883664" y="3977640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920240" y="4032504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CALINAN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4123944" y="3977640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4160520" y="4032504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4626864" y="3977640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4663440" y="4032504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507223" y="3977640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543799" y="4032504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805672" y="397764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842247" y="403250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00032" y="3977640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36607" y="4032504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5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58368" y="4219956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4944" y="4274820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042415" y="4219956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078992" y="4274820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1883664" y="4219956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1920240" y="4274820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DIGOS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4123944" y="4219956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4160520" y="4274820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4626864" y="4219956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4663440" y="4274820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507223" y="4219956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543799" y="4274820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8805672" y="421995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8842247" y="427482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7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9400032" y="4219956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9436607" y="4274820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58368" y="4462272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94944" y="4517136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13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1042415" y="4462272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1078992" y="4517136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III-B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1883664" y="4462272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1920240" y="4517136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ECOLAND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123944" y="4462272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4160520" y="4517136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4626864" y="4462272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4663440" y="4517136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NMAX155 FI ABS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7507223" y="4462272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7543799" y="4517136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805672" y="446227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842247" y="451713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9400032" y="4462272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9436607" y="4517136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658368" y="4704588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694944" y="4759451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14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1042415" y="4704588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1078992" y="4759451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1883664" y="4704588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1920240" y="4759451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KIDAPAWAN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4123944" y="4704588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4160520" y="4759451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4626864" y="4704588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663440" y="4759451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BARAKO II (DUAL START)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7507223" y="4704588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7543799" y="4759451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8805672" y="470458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842247" y="475945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245" name="Rectangle 244"/>
          <p:cNvSpPr/>
          <p:nvPr/>
        </p:nvSpPr>
        <p:spPr>
          <a:xfrm>
            <a:off x="9400032" y="4704588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6" name="TextBox 245"/>
          <p:cNvSpPr txBox="1"/>
          <p:nvPr/>
        </p:nvSpPr>
        <p:spPr>
          <a:xfrm>
            <a:off x="9436607" y="475945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247" name="Rectangle 246"/>
          <p:cNvSpPr/>
          <p:nvPr/>
        </p:nvSpPr>
        <p:spPr>
          <a:xfrm>
            <a:off x="658368" y="4946903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8" name="TextBox 247"/>
          <p:cNvSpPr txBox="1"/>
          <p:nvPr/>
        </p:nvSpPr>
        <p:spPr>
          <a:xfrm>
            <a:off x="694944" y="5001767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15</a:t>
            </a:r>
          </a:p>
        </p:txBody>
      </p:sp>
      <p:sp>
        <p:nvSpPr>
          <p:cNvPr id="249" name="Rectangle 248"/>
          <p:cNvSpPr/>
          <p:nvPr/>
        </p:nvSpPr>
        <p:spPr>
          <a:xfrm>
            <a:off x="1042415" y="4946903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0" name="TextBox 249"/>
          <p:cNvSpPr txBox="1"/>
          <p:nvPr/>
        </p:nvSpPr>
        <p:spPr>
          <a:xfrm>
            <a:off x="1078992" y="5001767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IV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1883664" y="4946903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1920240" y="5001767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MIDSAYAP</a:t>
            </a:r>
          </a:p>
        </p:txBody>
      </p:sp>
      <p:sp>
        <p:nvSpPr>
          <p:cNvPr id="253" name="Rectangle 252"/>
          <p:cNvSpPr/>
          <p:nvPr/>
        </p:nvSpPr>
        <p:spPr>
          <a:xfrm>
            <a:off x="4123944" y="4946903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4" name="TextBox 253"/>
          <p:cNvSpPr txBox="1"/>
          <p:nvPr/>
        </p:nvSpPr>
        <p:spPr>
          <a:xfrm>
            <a:off x="4160520" y="5001767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4626864" y="4946903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TextBox 255"/>
          <p:cNvSpPr txBox="1"/>
          <p:nvPr/>
        </p:nvSpPr>
        <p:spPr>
          <a:xfrm>
            <a:off x="4663440" y="5001767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7507223" y="4946903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7543799" y="5001767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8805672" y="494690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0" name="TextBox 259"/>
          <p:cNvSpPr txBox="1"/>
          <p:nvPr/>
        </p:nvSpPr>
        <p:spPr>
          <a:xfrm>
            <a:off x="8842247" y="500176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9400032" y="494690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2" name="TextBox 261"/>
          <p:cNvSpPr txBox="1"/>
          <p:nvPr/>
        </p:nvSpPr>
        <p:spPr>
          <a:xfrm>
            <a:off x="9436607" y="500176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2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658368" y="5189219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694944" y="5244083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16</a:t>
            </a:r>
          </a:p>
        </p:txBody>
      </p:sp>
      <p:sp>
        <p:nvSpPr>
          <p:cNvPr id="265" name="Rectangle 264"/>
          <p:cNvSpPr/>
          <p:nvPr/>
        </p:nvSpPr>
        <p:spPr>
          <a:xfrm>
            <a:off x="1042415" y="5189219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6" name="TextBox 265"/>
          <p:cNvSpPr txBox="1"/>
          <p:nvPr/>
        </p:nvSpPr>
        <p:spPr>
          <a:xfrm>
            <a:off x="1078992" y="5244083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</a:t>
            </a:r>
          </a:p>
        </p:txBody>
      </p:sp>
      <p:sp>
        <p:nvSpPr>
          <p:cNvPr id="267" name="Rectangle 266"/>
          <p:cNvSpPr/>
          <p:nvPr/>
        </p:nvSpPr>
        <p:spPr>
          <a:xfrm>
            <a:off x="1883664" y="5189219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8" name="TextBox 267"/>
          <p:cNvSpPr txBox="1"/>
          <p:nvPr/>
        </p:nvSpPr>
        <p:spPr>
          <a:xfrm>
            <a:off x="1920240" y="5244083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HONDA KORONADAL</a:t>
            </a:r>
          </a:p>
        </p:txBody>
      </p:sp>
      <p:sp>
        <p:nvSpPr>
          <p:cNvPr id="269" name="Rectangle 268"/>
          <p:cNvSpPr/>
          <p:nvPr/>
        </p:nvSpPr>
        <p:spPr>
          <a:xfrm>
            <a:off x="4123944" y="5189219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0" name="TextBox 269"/>
          <p:cNvSpPr txBox="1"/>
          <p:nvPr/>
        </p:nvSpPr>
        <p:spPr>
          <a:xfrm>
            <a:off x="4160520" y="5244083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71" name="Rectangle 270"/>
          <p:cNvSpPr/>
          <p:nvPr/>
        </p:nvSpPr>
        <p:spPr>
          <a:xfrm>
            <a:off x="4626864" y="5189219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2" name="TextBox 271"/>
          <p:cNvSpPr txBox="1"/>
          <p:nvPr/>
        </p:nvSpPr>
        <p:spPr>
          <a:xfrm>
            <a:off x="4663440" y="5244083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ADV160</a:t>
            </a:r>
          </a:p>
        </p:txBody>
      </p:sp>
      <p:sp>
        <p:nvSpPr>
          <p:cNvPr id="273" name="Rectangle 272"/>
          <p:cNvSpPr/>
          <p:nvPr/>
        </p:nvSpPr>
        <p:spPr>
          <a:xfrm>
            <a:off x="7507223" y="5189219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4" name="TextBox 273"/>
          <p:cNvSpPr txBox="1"/>
          <p:nvPr/>
        </p:nvSpPr>
        <p:spPr>
          <a:xfrm>
            <a:off x="7543799" y="5244083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8805672" y="5189219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6" name="TextBox 275"/>
          <p:cNvSpPr txBox="1"/>
          <p:nvPr/>
        </p:nvSpPr>
        <p:spPr>
          <a:xfrm>
            <a:off x="8842247" y="5244083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2</a:t>
            </a:r>
          </a:p>
        </p:txBody>
      </p:sp>
      <p:sp>
        <p:nvSpPr>
          <p:cNvPr id="277" name="Rectangle 276"/>
          <p:cNvSpPr/>
          <p:nvPr/>
        </p:nvSpPr>
        <p:spPr>
          <a:xfrm>
            <a:off x="9400032" y="5189219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8" name="TextBox 277"/>
          <p:cNvSpPr txBox="1"/>
          <p:nvPr/>
        </p:nvSpPr>
        <p:spPr>
          <a:xfrm>
            <a:off x="9436607" y="5244083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658368" y="5431535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TextBox 279"/>
          <p:cNvSpPr txBox="1"/>
          <p:nvPr/>
        </p:nvSpPr>
        <p:spPr>
          <a:xfrm>
            <a:off x="694944" y="5486399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17</a:t>
            </a:r>
          </a:p>
        </p:txBody>
      </p:sp>
      <p:sp>
        <p:nvSpPr>
          <p:cNvPr id="281" name="Rectangle 280"/>
          <p:cNvSpPr/>
          <p:nvPr/>
        </p:nvSpPr>
        <p:spPr>
          <a:xfrm>
            <a:off x="1042415" y="5431535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1078992" y="5486399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83" name="Rectangle 282"/>
          <p:cNvSpPr/>
          <p:nvPr/>
        </p:nvSpPr>
        <p:spPr>
          <a:xfrm>
            <a:off x="1883664" y="5431535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4" name="TextBox 283"/>
          <p:cNvSpPr txBox="1"/>
          <p:nvPr/>
        </p:nvSpPr>
        <p:spPr>
          <a:xfrm>
            <a:off x="1920240" y="5486399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BUTUAN</a:t>
            </a:r>
          </a:p>
        </p:txBody>
      </p:sp>
      <p:sp>
        <p:nvSpPr>
          <p:cNvPr id="285" name="Rectangle 284"/>
          <p:cNvSpPr/>
          <p:nvPr/>
        </p:nvSpPr>
        <p:spPr>
          <a:xfrm>
            <a:off x="4123944" y="5431535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TextBox 285"/>
          <p:cNvSpPr txBox="1"/>
          <p:nvPr/>
        </p:nvSpPr>
        <p:spPr>
          <a:xfrm>
            <a:off x="4160520" y="5486399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287" name="Rectangle 286"/>
          <p:cNvSpPr/>
          <p:nvPr/>
        </p:nvSpPr>
        <p:spPr>
          <a:xfrm>
            <a:off x="4626864" y="5431535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8" name="TextBox 287"/>
          <p:cNvSpPr txBox="1"/>
          <p:nvPr/>
        </p:nvSpPr>
        <p:spPr>
          <a:xfrm>
            <a:off x="4663440" y="5486399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289" name="Rectangle 288"/>
          <p:cNvSpPr/>
          <p:nvPr/>
        </p:nvSpPr>
        <p:spPr>
          <a:xfrm>
            <a:off x="7507223" y="5431535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7543799" y="5486399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291" name="Rectangle 290"/>
          <p:cNvSpPr/>
          <p:nvPr/>
        </p:nvSpPr>
        <p:spPr>
          <a:xfrm>
            <a:off x="8805672" y="543153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8842247" y="5486399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0</a:t>
            </a:r>
          </a:p>
        </p:txBody>
      </p:sp>
      <p:sp>
        <p:nvSpPr>
          <p:cNvPr id="293" name="Rectangle 292"/>
          <p:cNvSpPr/>
          <p:nvPr/>
        </p:nvSpPr>
        <p:spPr>
          <a:xfrm>
            <a:off x="9400032" y="5431535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9436607" y="5486399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0</a:t>
            </a:r>
          </a:p>
        </p:txBody>
      </p:sp>
      <p:sp>
        <p:nvSpPr>
          <p:cNvPr id="295" name="Rectangle 294"/>
          <p:cNvSpPr/>
          <p:nvPr/>
        </p:nvSpPr>
        <p:spPr>
          <a:xfrm>
            <a:off x="658368" y="5673851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694944" y="5728715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18</a:t>
            </a:r>
          </a:p>
        </p:txBody>
      </p:sp>
      <p:sp>
        <p:nvSpPr>
          <p:cNvPr id="297" name="Rectangle 296"/>
          <p:cNvSpPr/>
          <p:nvPr/>
        </p:nvSpPr>
        <p:spPr>
          <a:xfrm>
            <a:off x="1042415" y="5673851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78992" y="5728715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299" name="Rectangle 298"/>
          <p:cNvSpPr/>
          <p:nvPr/>
        </p:nvSpPr>
        <p:spPr>
          <a:xfrm>
            <a:off x="1883664" y="5673851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920240" y="5728715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CABADBARAN</a:t>
            </a:r>
          </a:p>
        </p:txBody>
      </p:sp>
      <p:sp>
        <p:nvSpPr>
          <p:cNvPr id="301" name="Rectangle 300"/>
          <p:cNvSpPr/>
          <p:nvPr/>
        </p:nvSpPr>
        <p:spPr>
          <a:xfrm>
            <a:off x="4123944" y="5673851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4160520" y="5728715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03" name="Rectangle 302"/>
          <p:cNvSpPr/>
          <p:nvPr/>
        </p:nvSpPr>
        <p:spPr>
          <a:xfrm>
            <a:off x="4626864" y="5673851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4" name="TextBox 303"/>
          <p:cNvSpPr txBox="1"/>
          <p:nvPr/>
        </p:nvSpPr>
        <p:spPr>
          <a:xfrm>
            <a:off x="4663440" y="5728715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CLICK125 FI</a:t>
            </a:r>
          </a:p>
        </p:txBody>
      </p:sp>
      <p:sp>
        <p:nvSpPr>
          <p:cNvPr id="305" name="Rectangle 304"/>
          <p:cNvSpPr/>
          <p:nvPr/>
        </p:nvSpPr>
        <p:spPr>
          <a:xfrm>
            <a:off x="7507223" y="5673851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6" name="TextBox 305"/>
          <p:cNvSpPr txBox="1"/>
          <p:nvPr/>
        </p:nvSpPr>
        <p:spPr>
          <a:xfrm>
            <a:off x="7543799" y="5728715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07" name="Rectangle 306"/>
          <p:cNvSpPr/>
          <p:nvPr/>
        </p:nvSpPr>
        <p:spPr>
          <a:xfrm>
            <a:off x="8805672" y="5673851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8" name="TextBox 307"/>
          <p:cNvSpPr txBox="1"/>
          <p:nvPr/>
        </p:nvSpPr>
        <p:spPr>
          <a:xfrm>
            <a:off x="8842247" y="5728715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1</a:t>
            </a:r>
          </a:p>
        </p:txBody>
      </p:sp>
      <p:sp>
        <p:nvSpPr>
          <p:cNvPr id="309" name="Rectangle 308"/>
          <p:cNvSpPr/>
          <p:nvPr/>
        </p:nvSpPr>
        <p:spPr>
          <a:xfrm>
            <a:off x="9400032" y="5673851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TextBox 309"/>
          <p:cNvSpPr txBox="1"/>
          <p:nvPr/>
        </p:nvSpPr>
        <p:spPr>
          <a:xfrm>
            <a:off x="9436607" y="5728715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3</a:t>
            </a:r>
          </a:p>
        </p:txBody>
      </p:sp>
      <p:sp>
        <p:nvSpPr>
          <p:cNvPr id="311" name="Rectangle 310"/>
          <p:cNvSpPr/>
          <p:nvPr/>
        </p:nvSpPr>
        <p:spPr>
          <a:xfrm>
            <a:off x="658368" y="5916167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2" name="TextBox 311"/>
          <p:cNvSpPr txBox="1"/>
          <p:nvPr/>
        </p:nvSpPr>
        <p:spPr>
          <a:xfrm>
            <a:off x="694944" y="5971031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19</a:t>
            </a:r>
          </a:p>
        </p:txBody>
      </p:sp>
      <p:sp>
        <p:nvSpPr>
          <p:cNvPr id="313" name="Rectangle 312"/>
          <p:cNvSpPr/>
          <p:nvPr/>
        </p:nvSpPr>
        <p:spPr>
          <a:xfrm>
            <a:off x="1042415" y="5916167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TextBox 313"/>
          <p:cNvSpPr txBox="1"/>
          <p:nvPr/>
        </p:nvSpPr>
        <p:spPr>
          <a:xfrm>
            <a:off x="1078992" y="5971031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15" name="Rectangle 314"/>
          <p:cNvSpPr/>
          <p:nvPr/>
        </p:nvSpPr>
        <p:spPr>
          <a:xfrm>
            <a:off x="1883664" y="5916167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920240" y="5971031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PROSPERIDAD</a:t>
            </a:r>
          </a:p>
        </p:txBody>
      </p:sp>
      <p:sp>
        <p:nvSpPr>
          <p:cNvPr id="317" name="Rectangle 316"/>
          <p:cNvSpPr/>
          <p:nvPr/>
        </p:nvSpPr>
        <p:spPr>
          <a:xfrm>
            <a:off x="4123944" y="5916167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8" name="TextBox 317"/>
          <p:cNvSpPr txBox="1"/>
          <p:nvPr/>
        </p:nvSpPr>
        <p:spPr>
          <a:xfrm>
            <a:off x="4160520" y="5971031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19" name="Rectangle 318"/>
          <p:cNvSpPr/>
          <p:nvPr/>
        </p:nvSpPr>
        <p:spPr>
          <a:xfrm>
            <a:off x="4626864" y="5916167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0" name="TextBox 319"/>
          <p:cNvSpPr txBox="1"/>
          <p:nvPr/>
        </p:nvSpPr>
        <p:spPr>
          <a:xfrm>
            <a:off x="4663440" y="5971031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21" name="Rectangle 320"/>
          <p:cNvSpPr/>
          <p:nvPr/>
        </p:nvSpPr>
        <p:spPr>
          <a:xfrm>
            <a:off x="7507223" y="5916167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2" name="TextBox 321"/>
          <p:cNvSpPr txBox="1"/>
          <p:nvPr/>
        </p:nvSpPr>
        <p:spPr>
          <a:xfrm>
            <a:off x="7543799" y="5971031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23" name="Rectangle 322"/>
          <p:cNvSpPr/>
          <p:nvPr/>
        </p:nvSpPr>
        <p:spPr>
          <a:xfrm>
            <a:off x="8805672" y="5916167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4" name="TextBox 323"/>
          <p:cNvSpPr txBox="1"/>
          <p:nvPr/>
        </p:nvSpPr>
        <p:spPr>
          <a:xfrm>
            <a:off x="8842247" y="597103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6</a:t>
            </a:r>
          </a:p>
        </p:txBody>
      </p:sp>
      <p:sp>
        <p:nvSpPr>
          <p:cNvPr id="325" name="Rectangle 324"/>
          <p:cNvSpPr/>
          <p:nvPr/>
        </p:nvSpPr>
        <p:spPr>
          <a:xfrm>
            <a:off x="9400032" y="5916167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6" name="TextBox 325"/>
          <p:cNvSpPr txBox="1"/>
          <p:nvPr/>
        </p:nvSpPr>
        <p:spPr>
          <a:xfrm>
            <a:off x="9436607" y="5971031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12</a:t>
            </a:r>
          </a:p>
        </p:txBody>
      </p:sp>
      <p:sp>
        <p:nvSpPr>
          <p:cNvPr id="327" name="Rectangle 326"/>
          <p:cNvSpPr/>
          <p:nvPr/>
        </p:nvSpPr>
        <p:spPr>
          <a:xfrm>
            <a:off x="658368" y="6158483"/>
            <a:ext cx="3840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8" name="TextBox 327"/>
          <p:cNvSpPr txBox="1"/>
          <p:nvPr/>
        </p:nvSpPr>
        <p:spPr>
          <a:xfrm>
            <a:off x="694944" y="6213347"/>
            <a:ext cx="3108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FAFC"/>
                </a:solidFill>
              </a:rPr>
              <a:t>20</a:t>
            </a:r>
          </a:p>
        </p:txBody>
      </p:sp>
      <p:sp>
        <p:nvSpPr>
          <p:cNvPr id="329" name="Rectangle 328"/>
          <p:cNvSpPr/>
          <p:nvPr/>
        </p:nvSpPr>
        <p:spPr>
          <a:xfrm>
            <a:off x="1042415" y="6158483"/>
            <a:ext cx="8412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0" name="TextBox 329"/>
          <p:cNvSpPr txBox="1"/>
          <p:nvPr/>
        </p:nvSpPr>
        <p:spPr>
          <a:xfrm>
            <a:off x="1078992" y="6213347"/>
            <a:ext cx="768096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AREA VI</a:t>
            </a:r>
          </a:p>
        </p:txBody>
      </p:sp>
      <p:sp>
        <p:nvSpPr>
          <p:cNvPr id="331" name="Rectangle 330"/>
          <p:cNvSpPr/>
          <p:nvPr/>
        </p:nvSpPr>
        <p:spPr>
          <a:xfrm>
            <a:off x="1883664" y="6158483"/>
            <a:ext cx="224028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2" name="TextBox 331"/>
          <p:cNvSpPr txBox="1"/>
          <p:nvPr/>
        </p:nvSpPr>
        <p:spPr>
          <a:xfrm>
            <a:off x="1920240" y="6213347"/>
            <a:ext cx="216712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650" b="0">
                <a:solidFill>
                  <a:srgbClr val="F8FAFC"/>
                </a:solidFill>
              </a:rPr>
              <a:t>MUTI SAN FRANCISCO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4123944" y="6158483"/>
            <a:ext cx="50292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4160520" y="6213347"/>
            <a:ext cx="42976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A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4626864" y="6158483"/>
            <a:ext cx="2880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4663440" y="6213347"/>
            <a:ext cx="2807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BAJAJ RE 4S FI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7507223" y="6158483"/>
            <a:ext cx="1298448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7543799" y="6213347"/>
            <a:ext cx="1225295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Stockout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805672" y="615848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842247" y="621334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1">
                <a:solidFill>
                  <a:srgbClr val="F87171"/>
                </a:solidFill>
              </a:rPr>
              <a:t>3</a:t>
            </a:r>
          </a:p>
        </p:txBody>
      </p:sp>
      <p:sp>
        <p:nvSpPr>
          <p:cNvPr id="341" name="Rectangle 340"/>
          <p:cNvSpPr/>
          <p:nvPr/>
        </p:nvSpPr>
        <p:spPr>
          <a:xfrm>
            <a:off x="9400032" y="6158483"/>
            <a:ext cx="594360" cy="224028"/>
          </a:xfrm>
          <a:prstGeom prst="rect">
            <a:avLst/>
          </a:prstGeom>
          <a:solidFill>
            <a:srgbClr val="3A1C24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2" name="TextBox 341"/>
          <p:cNvSpPr txBox="1"/>
          <p:nvPr/>
        </p:nvSpPr>
        <p:spPr>
          <a:xfrm>
            <a:off x="9436607" y="6213347"/>
            <a:ext cx="521208" cy="150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sz="650" b="0">
                <a:solidFill>
                  <a:srgbClr val="F8FAFC"/>
                </a:solidFill>
              </a:rPr>
              <a:t>6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F172A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TextBox 1"/>
          <p:cNvSpPr txBox="1"/>
          <p:nvPr/>
        </p:nvSpPr>
        <p:spPr>
          <a:xfrm>
            <a:off x="658368" y="914400"/>
            <a:ext cx="10881360" cy="5029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2800" b="1">
                <a:solidFill>
                  <a:srgbClr val="F8FAFC"/>
                </a:solidFill>
              </a:rPr>
              <a:t>MANAGEMENT ACTION FRAME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58368" y="1508760"/>
            <a:ext cx="10607040" cy="36576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500" b="0">
                <a:solidFill>
                  <a:srgbClr val="94A3B8"/>
                </a:solidFill>
              </a:rPr>
              <a:t>Use the deck to identify Area exposure, branch priorities and model-level actions from a single KPI export.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58368" y="2331720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TextBox 4"/>
          <p:cNvSpPr txBox="1"/>
          <p:nvPr/>
        </p:nvSpPr>
        <p:spPr>
          <a:xfrm>
            <a:off x="914400" y="2496312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1">
                <a:solidFill>
                  <a:srgbClr val="FBBF24"/>
                </a:solidFill>
              </a:rPr>
              <a:t>1  Review YTD and Weekly KPI movement before approving corrective actions.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658368" y="3118103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TextBox 6"/>
          <p:cNvSpPr txBox="1"/>
          <p:nvPr/>
        </p:nvSpPr>
        <p:spPr>
          <a:xfrm>
            <a:off x="914400" y="3282696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0">
                <a:solidFill>
                  <a:srgbClr val="F8FAFC"/>
                </a:solidFill>
              </a:rPr>
              <a:t>2  Prioritize high stock-out Areas and Class A branch exposure.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658368" y="3904487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TextBox 8"/>
          <p:cNvSpPr txBox="1"/>
          <p:nvPr/>
        </p:nvSpPr>
        <p:spPr>
          <a:xfrm>
            <a:off x="914400" y="4069080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0">
                <a:solidFill>
                  <a:srgbClr val="F8FAFC"/>
                </a:solidFill>
              </a:rPr>
              <a:t>3  Use all-Branch rankings to assign follow-up owners and replenishment priority.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658368" y="4690872"/>
            <a:ext cx="10789920" cy="594360"/>
          </a:xfrm>
          <a:prstGeom prst="roundRect">
            <a:avLst/>
          </a:prstGeom>
          <a:solidFill>
            <a:srgbClr val="1E293B"/>
          </a:solidFill>
          <a:ln>
            <a:solidFill>
              <a:srgbClr val="33415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914400" y="4855464"/>
            <a:ext cx="10241280" cy="2560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sz="1300" b="0">
                <a:solidFill>
                  <a:srgbClr val="F8FAFC"/>
                </a:solidFill>
              </a:rPr>
              <a:t>4  Re-import the latest workbook and regenerate this deck for every management review.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