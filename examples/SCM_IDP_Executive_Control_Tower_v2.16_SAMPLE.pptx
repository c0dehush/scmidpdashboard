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SCM INVENTORY &amp; DISTRIBUTION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15568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Executive KPI Presentation • YTD • Weekly • Area • All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82496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Complete operating review of KPI movement, stock-out exposure, Area ranking and all-Branch performance.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85292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MC Class A DoI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32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ADE80"/>
                </a:solidFill>
              </a:rPr>
              <a:t>▼ 3 vs previous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85292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MUTI MC DoI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15468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104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12 vs previous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274320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285292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Overall Class A Stock-Out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315468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60273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2 vs previous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5196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36168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Stock-Out Rate · Per Branch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66344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87171"/>
                </a:solidFill>
              </a:rPr>
              <a:t>▲ 1 vs previous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4251960"/>
            <a:ext cx="3401568" cy="120700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4361688"/>
            <a:ext cx="30723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Stock-Out · After PO 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663440"/>
            <a:ext cx="30723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5111496"/>
            <a:ext cx="30723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4ADE80"/>
                </a:solidFill>
              </a:rPr>
              <a:t>▼ 0 vs previous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254496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94A3B8"/>
                </a:solidFill>
              </a:rPr>
              <a:t>Coverage: 8 Areas • 50 Branches • Source: KPI_YTD_Input, KPI_WEEKLY_Input and Raw Distribution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EXECUTIVE KPI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Latest YTD and Weekly results across the five core Supply Chain KPIs.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4069080" cy="30175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298448"/>
            <a:ext cx="3995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KPI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7448" y="1234440"/>
            <a:ext cx="1143000" cy="30175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64024" y="1298448"/>
            <a:ext cx="10698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YTD</a:t>
            </a:r>
          </a:p>
        </p:txBody>
      </p:sp>
      <p:sp>
        <p:nvSpPr>
          <p:cNvPr id="9" name="Rectangle 8"/>
          <p:cNvSpPr/>
          <p:nvPr/>
        </p:nvSpPr>
        <p:spPr>
          <a:xfrm>
            <a:off x="5870448" y="1234440"/>
            <a:ext cx="1143000" cy="30175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298448"/>
            <a:ext cx="10698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YTD 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3448" y="1234440"/>
            <a:ext cx="1143000" cy="30175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50024" y="1298448"/>
            <a:ext cx="10698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Weekly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6448" y="1234440"/>
            <a:ext cx="1143000" cy="30175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3" y="1298448"/>
            <a:ext cx="10698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Weekly 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99448" y="1234440"/>
            <a:ext cx="1371600" cy="30175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6024" y="1298448"/>
            <a:ext cx="12984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Direction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1609344"/>
            <a:ext cx="406908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166420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MC Class A DoI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7448" y="160934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64024" y="166420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32 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70448" y="160934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66420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-3 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13448" y="160934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0024" y="166420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 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6448" y="160934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3" y="166420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99448" y="1609344"/>
            <a:ext cx="13716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36024" y="166420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Trend 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1975104"/>
            <a:ext cx="406908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202996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MUTI MC DoI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27448" y="197510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64024" y="202996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104 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70448" y="197510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07024" y="202996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12 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13448" y="197510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0024" y="202996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104 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6448" y="197510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3" y="202996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 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99448" y="1975104"/>
            <a:ext cx="13716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36024" y="202996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Trend 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2340864"/>
            <a:ext cx="406908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" y="239572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Overall Class A Stock-Out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27448" y="234086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64024" y="239572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70448" y="234086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07024" y="239572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13448" y="234086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50024" y="239572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38%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56448" y="234086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3023" y="239572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-2%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99448" y="2340864"/>
            <a:ext cx="13716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36024" y="239572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Trend 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2706624"/>
            <a:ext cx="406908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" y="276148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Stock-Out Rate · Per Branch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27448" y="270662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64024" y="276148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870448" y="270662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07024" y="276148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13448" y="270662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50024" y="276148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33%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56448" y="2706624"/>
            <a:ext cx="11430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93023" y="276148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99448" y="2706624"/>
            <a:ext cx="1371600" cy="329184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36024" y="276148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Trend 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3072384"/>
            <a:ext cx="406908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" y="3127248"/>
            <a:ext cx="399592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Stock-Out · After PO Balance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27448" y="307238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64024" y="312724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870448" y="307238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07024" y="312724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13448" y="307238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50024" y="312724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56448" y="3072384"/>
            <a:ext cx="11430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93023" y="3127248"/>
            <a:ext cx="10698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99448" y="3072384"/>
            <a:ext cx="1371600" cy="329184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36024" y="3127248"/>
            <a:ext cx="1298448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Trend 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053328"/>
            <a:ext cx="10881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94A3B8"/>
                </a:solidFill>
              </a:rPr>
              <a:t>Use this page as the quick management checkpoint before reviewing YTD, Weekly, Area and all-Branch drilldowns.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YTD KPI TRENDS · 1/2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Average, High, Low and Trend Direction highlight momentum, volatility and emerging exceptions.</a:t>
            </a:r>
          </a:p>
        </p:txBody>
      </p:sp>
      <p:pic>
        <p:nvPicPr>
          <p:cNvPr id="5" name="Picture 4" descr="tmp9aezhl7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9cj_14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  <p:pic>
        <p:nvPicPr>
          <p:cNvPr id="7" name="Picture 6" descr="tmpmeducmx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81144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YTD KPI TRENDS · 2/2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Average, High, Low and Trend Direction highlight momentum, volatility and emerging exceptions.</a:t>
            </a:r>
          </a:p>
        </p:txBody>
      </p:sp>
      <p:pic>
        <p:nvPicPr>
          <p:cNvPr id="5" name="Picture 4" descr="tmpaggzcpz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dlc62g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WEEKLY KPI TRENDS · 1/2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Average, High, Low and Trend Direction highlight momentum, volatility and emerging exceptions.</a:t>
            </a:r>
          </a:p>
        </p:txBody>
      </p:sp>
      <p:pic>
        <p:nvPicPr>
          <p:cNvPr id="5" name="Picture 4" descr="tmpxp77f3j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9c64ac9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  <p:pic>
        <p:nvPicPr>
          <p:cNvPr id="7" name="Picture 6" descr="tmp9_g2hiz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81144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WEEKLY KPI TRENDS · 2/2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Average, High, Low and Trend Direction highlight momentum, volatility and emerging exceptions.</a:t>
            </a:r>
          </a:p>
        </p:txBody>
      </p:sp>
      <p:pic>
        <p:nvPicPr>
          <p:cNvPr id="5" name="Picture 4" descr="tmp2127zb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10881360" cy="1463040"/>
          </a:xfrm>
          <a:prstGeom prst="rect">
            <a:avLst/>
          </a:prstGeom>
        </p:spPr>
      </p:pic>
      <p:pic>
        <p:nvPicPr>
          <p:cNvPr id="6" name="Picture 5" descr="tmp1fkgq9g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53512"/>
            <a:ext cx="1088136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AREA PERFORMANCE · ALL AREAS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Identify Areas and Branches with the highest stock-out exposure and Class A service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298448"/>
            <a:ext cx="2487168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08176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A Stock-Out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709928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298448"/>
            <a:ext cx="2487168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408176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B Stock-Out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709928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298448"/>
            <a:ext cx="2487168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408176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Class C Stock-Out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1709928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298448"/>
            <a:ext cx="2487168" cy="98755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408176"/>
            <a:ext cx="215798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</a:rPr>
              <a:t>Overall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1709928"/>
            <a:ext cx="2157984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32%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15184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AREA STOCK-OUT RANKING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26080"/>
            <a:ext cx="41148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338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#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" y="2926080"/>
            <a:ext cx="210312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6424" y="2990088"/>
            <a:ext cx="202996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Area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72968" y="2926080"/>
            <a:ext cx="82296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9544" y="2990088"/>
            <a:ext cx="749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95928" y="2926080"/>
            <a:ext cx="82296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32504" y="2990088"/>
            <a:ext cx="749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18888" y="2926080"/>
            <a:ext cx="82296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2990088"/>
            <a:ext cx="7498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41848" y="2926080"/>
            <a:ext cx="100584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78424" y="2990088"/>
            <a:ext cx="93268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Overall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21868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2735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9848" y="3218688"/>
            <a:ext cx="2103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" y="3273552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3218688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9544" y="3273552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46%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95928" y="3218688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32504" y="3273552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18888" y="3218688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55464" y="3273552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41848" y="3218688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78424" y="327355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3483864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3538728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9848" y="3483864"/>
            <a:ext cx="2103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6424" y="3538728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3483864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9544" y="3538728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42%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95928" y="3483864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32504" y="3538728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18888" y="3483864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55464" y="3538728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28%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41848" y="3483864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78424" y="3538728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39%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3749039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" y="3803903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69848" y="3749039"/>
            <a:ext cx="2103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06424" y="3803903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749039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9544" y="380390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95928" y="3749039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032504" y="380390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18888" y="3749039"/>
            <a:ext cx="8229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55464" y="380390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28%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41848" y="3749039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78424" y="3803903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38%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4014215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944" y="4069079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9848" y="4014215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06424" y="4069079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014215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09544" y="4069079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52%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95928" y="4014215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32504" y="4069079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18888" y="4014215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55464" y="4069079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41848" y="4014215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78424" y="4069079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368" y="4279392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4944" y="4334255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69848" y="4279392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06424" y="4334255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279392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09544" y="4334255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95928" y="4279392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032504" y="4334255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18888" y="4279392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855464" y="4334255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23%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41848" y="4279392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78424" y="4334255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" y="454456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4944" y="4599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9848" y="4544568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06424" y="4599431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172968" y="4544568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09544" y="4599431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28%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995928" y="4544568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032504" y="4599431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818888" y="4544568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55464" y="4599431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641848" y="454456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78424" y="45994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8368" y="4809744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94944" y="4864607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69848" y="4809744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06424" y="4864607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4809744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09544" y="4864607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28%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95928" y="4809744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032504" y="4864607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818888" y="4809744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855464" y="4864607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41848" y="4809744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678424" y="4864607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58368" y="5074920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94944" y="5129783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69848" y="5074920"/>
            <a:ext cx="2103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06424" y="5129783"/>
            <a:ext cx="202996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172968" y="5074920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9544" y="512978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28%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995928" y="5074920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032504" y="512978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818888" y="5074920"/>
            <a:ext cx="8229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855464" y="5129783"/>
            <a:ext cx="7498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641848" y="5074920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678424" y="5129783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03720" y="2615184"/>
            <a:ext cx="4343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BBF24"/>
                </a:solidFill>
              </a:rPr>
              <a:t>TOP BRANCH CLASS A STOCK-OUT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903720" y="2926080"/>
            <a:ext cx="41148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940296" y="2990088"/>
            <a:ext cx="3383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#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315200" y="2926080"/>
            <a:ext cx="224028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351775" y="2990088"/>
            <a:ext cx="216712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Branch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555480" y="2926080"/>
            <a:ext cx="96012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592055" y="2990088"/>
            <a:ext cx="8869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Area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515600" y="2926080"/>
            <a:ext cx="731520" cy="256032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0552176" y="2990088"/>
            <a:ext cx="6583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 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903720" y="321868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40296" y="32735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315200" y="3218688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351775" y="3273552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BATANGAS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555480" y="3218688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592055" y="3273552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515600" y="3218688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552176" y="3273552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903720" y="3483864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940296" y="3538728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315200" y="3483864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351775" y="3538728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MARAMAG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555480" y="3483864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592055" y="3538728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10515600" y="3483864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552176" y="3538728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903720" y="3749039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940296" y="3803903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315200" y="3749039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351775" y="3803903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PROSPERIDAD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555480" y="3749039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592055" y="3803903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515600" y="3749039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552176" y="3803903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903720" y="4014215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40296" y="4069079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315200" y="4014215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7351775" y="4069079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MIDSAYAP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555480" y="4014215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592055" y="4069079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515600" y="4014215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0552176" y="4069079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75%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903720" y="4279392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40296" y="4334255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315200" y="4279392"/>
            <a:ext cx="2240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351775" y="4334255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CALINAN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9555480" y="4279392"/>
            <a:ext cx="9601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9592055" y="4334255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0515600" y="4279392"/>
            <a:ext cx="73152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552176" y="4334255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903720" y="454456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40296" y="4599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7315200" y="4544568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351775" y="4599431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SURIGAO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555480" y="4544568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592055" y="4599431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0515600" y="4544568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552176" y="4599431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903720" y="4809744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940296" y="4864607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7315200" y="4809744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7351775" y="4864607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TUPI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9555480" y="4809744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9592055" y="4864607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515600" y="4809744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0552176" y="4864607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903720" y="5074920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940296" y="5129783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315200" y="5074920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351775" y="5129783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3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555480" y="5074920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592055" y="5129783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515600" y="5074920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552176" y="5129783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67%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903720" y="5340096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940296" y="5394959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315200" y="5340096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7351775" y="5394959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3S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9555480" y="5340096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592055" y="5394959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10515600" y="5340096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552176" y="5394959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63%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903720" y="5605272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940296" y="5660136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315200" y="5605272"/>
            <a:ext cx="2240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351775" y="5660136"/>
            <a:ext cx="21671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2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555480" y="5605272"/>
            <a:ext cx="9601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592055" y="5660136"/>
            <a:ext cx="8869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0515600" y="5605272"/>
            <a:ext cx="73152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552176" y="5660136"/>
            <a:ext cx="65836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BRANCH CLASS A STOCK-OUT RANKING · 1/3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captured. Highest Class A exposure appears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1234440"/>
            <a:ext cx="37947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298448"/>
            <a:ext cx="37216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4608" y="1234440"/>
            <a:ext cx="1097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11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234440"/>
            <a:ext cx="1097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846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A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9168" y="1234440"/>
            <a:ext cx="15087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1298448"/>
            <a:ext cx="143560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SO / Status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554480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160934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1554480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160934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BATANGAS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1554480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1554480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846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9168" y="1554480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160934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 /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1778507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183337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9848" y="1778507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" y="183337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MARAMAG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4608" y="1778507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118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1778507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846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9168" y="1778507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183337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 /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2002536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205740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" y="2002536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6424" y="205740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PROSPERIDAD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64608" y="2002536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118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61888" y="2002536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9846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9168" y="2002536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95744" y="205740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 /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2226564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228142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9848" y="2226564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6424" y="228142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MIDSAYAP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4608" y="2226564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0118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61888" y="2226564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9168" y="2226564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95744" y="228142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 / 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2450592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250545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9848" y="2450592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6424" y="250545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CALINAN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64608" y="2450592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0118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61888" y="2450592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846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2450592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95744" y="250545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 / 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2674620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" y="272948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69848" y="2674620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6424" y="272948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SURIGAO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64608" y="2674620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0118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61888" y="2674620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9846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59168" y="2674620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95744" y="272948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 /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2898648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4944" y="295351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9848" y="2898648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6424" y="295351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TUPI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64608" y="2898648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01184" y="295351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61888" y="2898648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98464" y="295351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59168" y="2898648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095744" y="295351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 / 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" y="3122676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4944" y="317754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9848" y="3122676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6424" y="317754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4608" y="3122676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01184" y="317754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61888" y="3122676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98464" y="317754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67%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59168" y="3122676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095744" y="317754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 / 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8368" y="3346704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4944" y="340156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9848" y="3346704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06424" y="340156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3S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64608" y="3346704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01184" y="340156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61888" y="3346704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98464" y="340156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63%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059168" y="3346704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95744" y="340156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 / 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" y="3570732"/>
            <a:ext cx="4114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4944" y="362559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9848" y="3570732"/>
            <a:ext cx="3794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06424" y="362559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64608" y="3570732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901184" y="362559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961888" y="3570732"/>
            <a:ext cx="109728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98464" y="362559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59168" y="3570732"/>
            <a:ext cx="1508760" cy="210312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95744" y="362559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 / 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58368" y="379476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94944" y="384962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9848" y="379476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06424" y="384962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SURALLAH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864608" y="379476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901184" y="384962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961888" y="379476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998464" y="384962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57%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59168" y="379476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95744" y="384962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 / 7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8368" y="401878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94944" y="407365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69848" y="401878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06424" y="407365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CABADBARAN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864608" y="401878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901184" y="407365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961888" y="401878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998464" y="407365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059168" y="401878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95744" y="407365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 / 8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8368" y="424281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4944" y="429768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69848" y="424281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06424" y="429768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CATALUNAN GRANDE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864608" y="424281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901184" y="429768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961888" y="424281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998464" y="429768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059168" y="424281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095744" y="429768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6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8368" y="446684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94944" y="452170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69848" y="446684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06424" y="452170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PANABO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864608" y="446684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901184" y="452170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961888" y="446684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998464" y="452170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059168" y="446684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095744" y="452170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4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58368" y="469087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4944" y="474573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69848" y="469087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06424" y="474573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SAN FRANCISCO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864608" y="469087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901184" y="474573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961888" y="469087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998464" y="474573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059168" y="469087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095744" y="474573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58368" y="491490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94944" y="496976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16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69848" y="491490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106424" y="496976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STO. TOMAS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864608" y="491490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901184" y="496976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961888" y="491490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998464" y="496976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059168" y="491490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095744" y="496976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58368" y="513892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4944" y="519379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69848" y="513892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06424" y="519379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864608" y="513892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01184" y="519379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961888" y="513892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998464" y="519379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059168" y="513892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095744" y="519379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6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58368" y="536295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94944" y="541782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" y="536295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06424" y="541782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BANSALAN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864608" y="536295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901184" y="541782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961888" y="536295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998464" y="541782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059168" y="536295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095744" y="541782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 / 9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58368" y="558698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94944" y="564184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69848" y="558698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106424" y="564184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MLANG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4864608" y="558698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901184" y="564184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961888" y="558698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5998464" y="564184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43%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059168" y="558698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095744" y="564184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7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58368" y="581101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94944" y="586587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69848" y="581101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106424" y="586587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SURALLAH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864608" y="581101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901184" y="586587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961888" y="581101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998464" y="586587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059168" y="581101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095744" y="586587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5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8368" y="603504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4944" y="608990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21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69848" y="603504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106424" y="608990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CABANTIAN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864608" y="603504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901184" y="608990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961888" y="603504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998464" y="608990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059168" y="603504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095744" y="608990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5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58368" y="625906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4944" y="631393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69848" y="625906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106424" y="631393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KABACAN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864608" y="625906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901184" y="631393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961888" y="625906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998464" y="631393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059168" y="625906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7095744" y="631393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BRANCH CLASS A STOCK-OUT RANKING · 2/3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captured. Highest Class A exposure appears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1234440"/>
            <a:ext cx="37947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298448"/>
            <a:ext cx="37216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4608" y="1234440"/>
            <a:ext cx="1097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11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234440"/>
            <a:ext cx="1097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846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A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9168" y="1234440"/>
            <a:ext cx="15087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1298448"/>
            <a:ext cx="143560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SO / Status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55448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160934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155448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160934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BANGA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155448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155448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846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9168" y="155448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160934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1778507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183337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9848" y="1778507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" y="183337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DIGOS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4608" y="1778507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118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1778507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846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9168" y="1778507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183337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200253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205740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" y="200253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6424" y="205740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KIDAPAWAN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64608" y="200253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118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61888" y="200253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9846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9168" y="200253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95744" y="205740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222656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228142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9848" y="222656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6424" y="228142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TACURONG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4608" y="222656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0118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61888" y="222656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9168" y="222656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95744" y="228142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 / 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245059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250545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9848" y="245059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6424" y="250545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BAYUGAN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64608" y="245059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0118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61888" y="245059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846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245059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95744" y="250545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267462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" y="272948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69848" y="267462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6424" y="272948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LAPASAN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64608" y="267462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0118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61888" y="267462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9846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59168" y="267462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95744" y="272948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289864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4944" y="295351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9848" y="289864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6424" y="295351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NABUNTURAN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64608" y="289864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01184" y="295351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61888" y="289864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98464" y="295351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059168" y="289864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095744" y="295351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" y="312267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4944" y="317754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69848" y="312267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106424" y="317754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QUEZON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4608" y="312267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01184" y="317754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61888" y="312267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98464" y="317754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59168" y="312267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095744" y="317754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8368" y="334670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94944" y="340156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69848" y="334670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06424" y="340156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VALENCIA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864608" y="334670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01184" y="340156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61888" y="334670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998464" y="340156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059168" y="334670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095744" y="340156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6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8368" y="357073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94944" y="362559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9848" y="357073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106424" y="362559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BULUA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864608" y="357073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901184" y="362559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961888" y="357073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998464" y="362559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059168" y="357073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95744" y="362559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58368" y="379476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94944" y="384962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69848" y="379476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106424" y="384962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ISULAN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864608" y="379476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901184" y="384962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961888" y="379476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998464" y="384962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059168" y="379476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095744" y="384962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7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8368" y="401878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94944" y="407365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69848" y="401878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06424" y="407365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MALUNGON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864608" y="401878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4901184" y="407365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961888" y="401878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998464" y="407365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059168" y="401878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095744" y="407365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58368" y="424281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94944" y="429768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69848" y="424281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106424" y="429768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MARBEL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864608" y="424281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901184" y="429768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961888" y="424281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998464" y="429768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059168" y="424281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095744" y="429768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 / 7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8368" y="446684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94944" y="452170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69848" y="446684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06424" y="452170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ISULAN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864608" y="446684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901184" y="452170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961888" y="446684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998464" y="452170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059168" y="446684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095744" y="452170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58368" y="469087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94944" y="474573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37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069848" y="469087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06424" y="474573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MALUNGON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864608" y="469087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901184" y="474573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961888" y="469087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998464" y="474573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059168" y="469087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095744" y="474573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58368" y="491490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94944" y="496976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69848" y="491490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106424" y="496976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MARAMAG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864608" y="491490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901184" y="496976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961888" y="491490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998464" y="496976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059168" y="491490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095744" y="496976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58368" y="513892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94944" y="519379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39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69848" y="513892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106424" y="519379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BUTUAN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864608" y="513892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4901184" y="519379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5961888" y="513892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5998464" y="519379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059168" y="513892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095744" y="519379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658368" y="536295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694944" y="541782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69848" y="536295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106424" y="541782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SAMAL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864608" y="536295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901184" y="541782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961888" y="536295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998464" y="541782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059168" y="536295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095744" y="541782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5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58368" y="558698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94944" y="564184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41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69848" y="558698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106424" y="564184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DON CARLOS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4864608" y="558698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901184" y="564184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5961888" y="558698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5998464" y="564184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059168" y="558698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095744" y="564184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6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58368" y="581101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94944" y="586587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069848" y="581101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106424" y="586587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ECOLAND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864608" y="581101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901184" y="586587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5961888" y="581101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998464" y="586587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059168" y="581101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7095744" y="586587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6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8368" y="603504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4944" y="608990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69848" y="603504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106424" y="608990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MANOLO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864608" y="603504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901184" y="608990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961888" y="603504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998464" y="608990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059168" y="603504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095744" y="608990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6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658368" y="6259068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4944" y="631393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69848" y="6259068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106424" y="631393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KORONADAL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864608" y="625906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901184" y="631393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961888" y="6259068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998464" y="631393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059168" y="6259068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7095744" y="631393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BRANCH CLASS A STOCK-OUT RANKING · 3/3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captured. Highest Class A exposure appears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1234440"/>
            <a:ext cx="37947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298448"/>
            <a:ext cx="37216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4608" y="1234440"/>
            <a:ext cx="1097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11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61888" y="1234440"/>
            <a:ext cx="1097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846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A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9168" y="1234440"/>
            <a:ext cx="15087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1298448"/>
            <a:ext cx="143560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SO / Status 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155448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160934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9848" y="155448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6424" y="160934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ALABEL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155448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155448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8464" y="160934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59168" y="155448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160934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 / 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1778507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1833372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9848" y="1778507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" y="1833372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GREATWALL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64608" y="1778507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0118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1778507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8464" y="1833372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59168" y="1778507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5744" y="1833372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2002536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" y="2057400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9848" y="2002536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6424" y="2057400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CALAMBA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64608" y="200253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118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61888" y="2002536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98464" y="2057400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59168" y="2002536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95744" y="2057400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19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2226564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2281428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9848" y="2226564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06424" y="2281428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OZAMIZ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64608" y="222656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0118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5961888" y="2226564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2281428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59168" y="2226564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95744" y="2281428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16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368" y="2450592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" y="2505456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69848" y="2450592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06424" y="2505456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POLOMOLOK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64608" y="245059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0118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61888" y="2450592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98464" y="2505456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2450592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95744" y="2505456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2674620"/>
            <a:ext cx="4114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4944" y="2729484"/>
            <a:ext cx="33832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69848" y="2674620"/>
            <a:ext cx="3794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06424" y="2729484"/>
            <a:ext cx="3721608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TIBUNGCO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64608" y="267462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0118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61888" y="2674620"/>
            <a:ext cx="109728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98464" y="2729484"/>
            <a:ext cx="102412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59168" y="2674620"/>
            <a:ext cx="1508760" cy="210312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95744" y="2729484"/>
            <a:ext cx="1435607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 /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BRANCH PERFORMANCE · ALL BRANCHES · 1/3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ranked by Overall Average Stock-Out, then Class A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1234440"/>
            <a:ext cx="35661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298448"/>
            <a:ext cx="34930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1234440"/>
            <a:ext cx="1097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33288" y="1234440"/>
            <a:ext cx="914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98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7688" y="1234440"/>
            <a:ext cx="914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2088" y="1234440"/>
            <a:ext cx="914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8663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488" y="1234440"/>
            <a:ext cx="100584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3" y="1298448"/>
            <a:ext cx="93268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Overall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157276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162763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" y="1572768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162763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MARAMAG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572768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162763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3288" y="157276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98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7688" y="157276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62088" y="157276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8663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6488" y="1572768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13063" y="162763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184708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19019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9848" y="1847088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" y="190195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BATANGAS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36008" y="1847088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190195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3288" y="184708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98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47688" y="184708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842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62088" y="184708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98663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9%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76488" y="1847088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13063" y="190195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2121408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217627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9848" y="2121408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6424" y="217627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3S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36008" y="2121408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72584" y="217627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33288" y="212140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98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47688" y="212140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842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62088" y="2121408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98663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6488" y="2121408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13063" y="217627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52%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239572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24505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9848" y="239572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6424" y="24505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CALINAN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36008" y="239572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2584" y="24505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33288" y="23957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698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47688" y="23957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842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45%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62088" y="23957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98663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76488" y="239572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13063" y="24505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52%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267004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4944" y="27249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9848" y="267004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6424" y="27249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SURALLAH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36008" y="267004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72584" y="27249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33288" y="26700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698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47688" y="26700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842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65%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62088" y="26700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98663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32%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76488" y="267004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13063" y="27249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51%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" y="294436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4944" y="29992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69848" y="294436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6424" y="29992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PROSPERIDAD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36008" y="294436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72584" y="29992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33288" y="294436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7698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100%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47688" y="294436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842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36%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62088" y="294436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98663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17%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76488" y="294436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13063" y="29992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51%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368" y="321868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4944" y="32735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69848" y="321868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06424" y="32735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PANABO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36008" y="321868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72584" y="32735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733288" y="321868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7698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47688" y="321868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842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62088" y="321868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98663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29%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76488" y="321868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13063" y="32735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" y="349300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" y="35478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" y="349300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6424" y="35478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2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36008" y="349300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672584" y="35478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733288" y="349300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698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47688" y="349300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842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46%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562088" y="349300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98663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44%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76488" y="349300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513063" y="35478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8368" y="376732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94944" y="38221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69848" y="376732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06424" y="38221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TUPI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36008" y="376732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72584" y="38221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33288" y="37673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698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71%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47688" y="37673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6842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562088" y="376732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598663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26%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476488" y="376732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513063" y="38221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49%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8368" y="4041647"/>
            <a:ext cx="4114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94944" y="40965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69848" y="4041647"/>
            <a:ext cx="356616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06424" y="40965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636008" y="4041647"/>
            <a:ext cx="109728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672584" y="40965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733288" y="40416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7698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50%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647688" y="40416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6842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36%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562088" y="4041647"/>
            <a:ext cx="91440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598663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53%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476488" y="4041647"/>
            <a:ext cx="1005840" cy="24688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513063" y="40965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46%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58368" y="43159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4944" y="43708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11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69848" y="43159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06424" y="43708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KIDAPAWAN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636008" y="43159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672584" y="43708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7332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7698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6476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6842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58%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5620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598663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476488" y="43159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13063" y="43708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58368" y="45902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94944" y="46451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69848" y="45902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06424" y="46451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BANGA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636008" y="45902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672584" y="46451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7332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7698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6476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6842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73%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5620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598663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476488" y="45902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513063" y="46451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58368" y="48646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94944" y="49194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69848" y="48646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06424" y="49194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MIDSAYAP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636008" y="48646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672584" y="49194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7332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7698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75%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6476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6842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5620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598663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476488" y="48646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13063" y="49194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58368" y="51389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94944" y="51937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69848" y="51389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106424" y="51937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LAPASAN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636008" y="51389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672584" y="51937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57332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57698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6476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6842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69%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5620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598663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476488" y="51389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513063" y="51937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8368" y="54132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4944" y="54681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69848" y="54132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106424" y="54681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SURIGAO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636008" y="54132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672584" y="54681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7332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7698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71%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6476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6842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5620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598663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476488" y="54132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513063" y="54681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41%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58368" y="56875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94944" y="5742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16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069848" y="56875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106424" y="57424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MLANG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636008" y="56875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672584" y="57424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7332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7698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43%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6476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6842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5620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598663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76488" y="56875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513063" y="57424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658368" y="59618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94944" y="60167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69848" y="59618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106424" y="60167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3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4636008" y="59618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4672584" y="60167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7332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5769864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67%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6476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684264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75620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7598663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19%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476488" y="59618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513063" y="60167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BRANCH PERFORMANCE · ALL BRANCHES · 2/3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ranked by Overall Average Stock-Out, then Class A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1234440"/>
            <a:ext cx="35661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298448"/>
            <a:ext cx="34930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1234440"/>
            <a:ext cx="1097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33288" y="1234440"/>
            <a:ext cx="914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98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7688" y="1234440"/>
            <a:ext cx="914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2088" y="1234440"/>
            <a:ext cx="914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8663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488" y="1234440"/>
            <a:ext cx="100584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3" y="1298448"/>
            <a:ext cx="93268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Overall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157276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162763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" y="157276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162763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CATALUNAN GRANDE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57276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162763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32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98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76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620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8663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6488" y="157276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13063" y="162763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184708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19019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9848" y="184708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" y="190195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BANSALAN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36008" y="184708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190195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32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98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476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842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620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98663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53%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76488" y="184708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13063" y="190195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37%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212140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217627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9848" y="212140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6424" y="217627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SAN FRANCISCO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36008" y="212140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72584" y="217627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332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98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476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842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620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98663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6488" y="212140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13063" y="217627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37%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23957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24505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9848" y="23957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6424" y="24505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CABANTIAN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36008" y="23957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2584" y="24505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332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698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476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842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620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98663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76488" y="23957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13063" y="24505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26700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4944" y="27249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9848" y="26700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6424" y="27249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TACURONG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36008" y="26700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72584" y="27249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332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698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476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842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620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98663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76488" y="26700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13063" y="27249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" y="29443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4944" y="29992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69848" y="29443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6424" y="29992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DIGOS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36008" y="29443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72584" y="29992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332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7698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476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842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620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98663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76488" y="29443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13063" y="29992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368" y="32186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4944" y="32735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69848" y="32186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06424" y="32735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DON CARLOS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36008" y="32186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72584" y="32735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7332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7698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476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842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620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98663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76488" y="32186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13063" y="32735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" y="34930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" y="35478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" y="34930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6424" y="35478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ISULAN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36008" y="34930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672584" y="35478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7332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698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476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842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5620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98663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76488" y="34930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513063" y="35478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8368" y="37673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94944" y="38221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69848" y="37673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06424" y="38221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KABACAN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36008" y="37673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72584" y="38221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332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698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476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6842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5620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598663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476488" y="37673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513063" y="38221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8368" y="40416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94944" y="40965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69848" y="40416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06424" y="40965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MANOLO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636008" y="40416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672584" y="40965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7332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7698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6476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6842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5620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598663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476488" y="40416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513063" y="40965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58368" y="43159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4944" y="43708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28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69848" y="43159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06424" y="43708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NABUNTURAN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636008" y="43159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672584" y="43708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7332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7698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6476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6842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5620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598663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476488" y="43159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13063" y="43708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58368" y="45902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94944" y="46451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69848" y="45902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06424" y="46451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BUTUAN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636008" y="45902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672584" y="46451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7332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7698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6476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6842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5620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598663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476488" y="45902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513063" y="46451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58368" y="48646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94944" y="49194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69848" y="48646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06424" y="49194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MARBEL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636008" y="48646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672584" y="49194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7332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7698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6476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6842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5620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598663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476488" y="48646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13063" y="49194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30%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58368" y="51389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94944" y="51937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69848" y="51389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106424" y="51937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SURALLAH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636008" y="51389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672584" y="51937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57332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57698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6476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6842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5620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598663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476488" y="51389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513063" y="51937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8368" y="54132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4944" y="54681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32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69848" y="54132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106424" y="54681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ISULAN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636008" y="54132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672584" y="54681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7332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7698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6476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6842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5620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598663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476488" y="54132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513063" y="54681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28%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58368" y="56875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94944" y="5742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069848" y="56875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106424" y="57424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MALUNGON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636008" y="56875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672584" y="57424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7332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7698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6476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6842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40%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5620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598663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76488" y="56875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513063" y="57424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27%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658368" y="59618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94944" y="60167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34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069848" y="59618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106424" y="60167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BAYUGAN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4636008" y="59618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4672584" y="60167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7332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5769864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66476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684264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22%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7562088" y="59618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7598663" y="60167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24%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476488" y="59618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8513063" y="60167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BRANCH PERFORMANCE · ALL BRANCHES · 3/3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All branches are ranked by Overall Average Stock-Out, then Class A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4114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298448"/>
            <a:ext cx="3383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1234440"/>
            <a:ext cx="35661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298448"/>
            <a:ext cx="34930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Branch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1234440"/>
            <a:ext cx="1097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1298448"/>
            <a:ext cx="1024127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33288" y="1234440"/>
            <a:ext cx="914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98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7688" y="1234440"/>
            <a:ext cx="914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4264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2088" y="1234440"/>
            <a:ext cx="91440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8663" y="1298448"/>
            <a:ext cx="84124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Class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488" y="1234440"/>
            <a:ext cx="100584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3" y="1298448"/>
            <a:ext cx="93268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Overall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157276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162763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9848" y="157276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6424" y="162763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SAMAL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36008" y="157276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162763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332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98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476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84264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62088" y="157276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8663" y="162763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6488" y="157276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13063" y="162763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184708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" y="190195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9848" y="184708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6424" y="190195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BULUA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36008" y="184708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72584" y="190195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332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98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476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84264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29%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62088" y="184708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98663" y="190195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76488" y="184708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13063" y="190195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26%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2121408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" y="2176272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9848" y="2121408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06424" y="2176272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QUEZON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36008" y="2121408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72584" y="2176272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332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98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476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84264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62088" y="2121408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98663" y="2176272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6488" y="2121408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13063" y="2176272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" y="23957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" y="24505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9848" y="23957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06424" y="24505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CABADBARAN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36008" y="23957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2584" y="24505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332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698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476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84264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62088" y="23957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98663" y="24505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476488" y="23957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13063" y="24505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8368" y="26700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4944" y="27249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69848" y="26700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06424" y="27249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KORONADAL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636008" y="26700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72584" y="27249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332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698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6476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84264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11%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562088" y="26700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98663" y="27249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476488" y="26700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13063" y="27249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58368" y="29443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4944" y="29992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69848" y="29443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06424" y="29992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STO. TOMAS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36008" y="29443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72584" y="29992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7332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7698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476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84264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562088" y="29443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98663" y="29992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4%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76488" y="29443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513063" y="29992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24%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58368" y="32186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94944" y="32735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69848" y="32186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06424" y="32735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VALENCIA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36008" y="32186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672584" y="32735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7332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7698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33%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476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84264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562088" y="32186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98663" y="32735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76488" y="32186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513063" y="32735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23%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" y="34930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" y="35478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69848" y="34930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106424" y="35478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TIBUNGCO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36008" y="34930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672584" y="35478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7332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698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476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684264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562088" y="34930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98663" y="35478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476488" y="34930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513063" y="35478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8368" y="37673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94944" y="38221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43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069848" y="37673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06424" y="38221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ALABEL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36008" y="37673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72584" y="38221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7332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7698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14%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6476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684264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42%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562088" y="37673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598663" y="38221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476488" y="37673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513063" y="38221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58368" y="40416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94944" y="40965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069848" y="40416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06424" y="40965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POLOMOLOK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636008" y="40416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672584" y="40965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7332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7698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6476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684264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562088" y="40416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598663" y="40965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30%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476488" y="40416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513063" y="40965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18%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58368" y="43159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94944" y="43708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69848" y="43159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106424" y="43708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MARAMAG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4636008" y="43159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4672584" y="43708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7332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7698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6476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684264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25%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562088" y="43159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598663" y="43708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7%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476488" y="43159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13063" y="43708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58368" y="459028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94944" y="464515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69848" y="459028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06424" y="464515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ECOLAND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636008" y="459028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672584" y="464515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7332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7698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6476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684264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562088" y="459028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598663" y="464515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5%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476488" y="459028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513063" y="464515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13%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58368" y="486460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94944" y="491947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47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69848" y="486460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106424" y="491947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MALUNGON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4636008" y="486460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4672584" y="491947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7332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7698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20%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6476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684264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7562088" y="486460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598663" y="491947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8476488" y="486460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513063" y="491947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7%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58368" y="513892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94944" y="519379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48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69848" y="513892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106424" y="519379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OZAMIZ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636008" y="513892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672584" y="519379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/>
            </a:r>
          </a:p>
        </p:txBody>
      </p:sp>
      <p:sp>
        <p:nvSpPr>
          <p:cNvPr id="207" name="Rectangle 206"/>
          <p:cNvSpPr/>
          <p:nvPr/>
        </p:nvSpPr>
        <p:spPr>
          <a:xfrm>
            <a:off x="57332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57698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66476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684264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562088" y="513892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7598663" y="519379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476488" y="513892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513063" y="519379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8368" y="541324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4944" y="546811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49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69848" y="541324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106424" y="546811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GREATWALL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636008" y="541324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672584" y="546811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7332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7698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6476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684264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7562088" y="541324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7598663" y="546811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8476488" y="541324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8513063" y="546811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58368" y="5687567"/>
            <a:ext cx="4114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94944" y="5742431"/>
            <a:ext cx="33832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50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069848" y="5687567"/>
            <a:ext cx="356616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106424" y="5742431"/>
            <a:ext cx="349300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CALAMBA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4636008" y="5687567"/>
            <a:ext cx="109728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4672584" y="5742431"/>
            <a:ext cx="1024127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VII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7332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7698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6476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684264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562088" y="5687567"/>
            <a:ext cx="91440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598663" y="5742431"/>
            <a:ext cx="84124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476488" y="5687567"/>
            <a:ext cx="1005840" cy="246888"/>
          </a:xfrm>
          <a:prstGeom prst="rect">
            <a:avLst/>
          </a:prstGeom>
          <a:solidFill>
            <a:srgbClr val="121D30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513063" y="5742431"/>
            <a:ext cx="932688" cy="1737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</a:rPr>
              <a:t>ALL-BRANCH MODEL PRIORITY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280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Top model-level exceptions from branch Model Intelligence, prioritizing Class A and stock-risk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34440"/>
            <a:ext cx="384048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298448"/>
            <a:ext cx="31089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2415" y="1234440"/>
            <a:ext cx="841248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298448"/>
            <a:ext cx="76809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Area</a:t>
            </a:r>
          </a:p>
        </p:txBody>
      </p:sp>
      <p:sp>
        <p:nvSpPr>
          <p:cNvPr id="9" name="Rectangle 8"/>
          <p:cNvSpPr/>
          <p:nvPr/>
        </p:nvSpPr>
        <p:spPr>
          <a:xfrm>
            <a:off x="1883664" y="1234440"/>
            <a:ext cx="224028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298448"/>
            <a:ext cx="216712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Branch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23944" y="1234440"/>
            <a:ext cx="50292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298448"/>
            <a:ext cx="42976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Cls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26864" y="1234440"/>
            <a:ext cx="28803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298448"/>
            <a:ext cx="28072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7223" y="1234440"/>
            <a:ext cx="1298448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799" y="1298448"/>
            <a:ext cx="1225295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Status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5672" y="1234440"/>
            <a:ext cx="5943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2247" y="1298448"/>
            <a:ext cx="5212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Inv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00032" y="1234440"/>
            <a:ext cx="594360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7" y="1298448"/>
            <a:ext cx="521208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80" b="1">
                <a:solidFill>
                  <a:srgbClr val="FBBF24"/>
                </a:solidFill>
              </a:rPr>
              <a:t>DoI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554480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1609344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5" y="1554480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1609344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83664" y="1554480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20240" y="1609344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ISULAN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23944" y="1554480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1609344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26864" y="1554480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1609344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07223" y="1554480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799" y="1609344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05672" y="155448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42247" y="160934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0032" y="155448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7" y="160934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1796795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1851660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2415" y="1796795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1851660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83664" y="1796795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1851660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BULUA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23944" y="1796795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1851660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626864" y="1796795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1851660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07223" y="1796795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799" y="1851660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05672" y="1796795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42247" y="185166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00032" y="1796795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36607" y="185166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2039112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" y="2093976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2415" y="2039112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8992" y="2093976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83664" y="2039112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20240" y="2093976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LAPASAN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23944" y="2039112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60520" y="2093976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26864" y="2039112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63440" y="2093976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07223" y="2039112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43799" y="2093976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05672" y="203911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842247" y="209397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400032" y="203911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36607" y="209397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2281428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" y="2336292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42415" y="2281428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78992" y="2336292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83664" y="2281428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20240" y="2336292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MANOLO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23944" y="2281428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60520" y="2336292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626864" y="2281428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663440" y="2336292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07223" y="2281428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543799" y="2336292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805672" y="228142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42247" y="2336292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00032" y="228142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36607" y="2336292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8368" y="2523744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4944" y="2578608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42415" y="2523744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78992" y="2578608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883664" y="2523744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20240" y="2578608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MARAMAG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23944" y="2523744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60520" y="2578608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626864" y="2523744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663440" y="2578608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07223" y="2523744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43799" y="2578608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805672" y="2523744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842247" y="2578608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400032" y="2523744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436607" y="2578608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8368" y="2766060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4944" y="2820924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42415" y="2766060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78992" y="2820924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883664" y="2766060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920240" y="2820924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QUEZON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23944" y="2766060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60520" y="2820924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626864" y="2766060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663440" y="2820924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507223" y="2766060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543799" y="2820924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805672" y="276606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842247" y="282092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00032" y="276606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36607" y="282092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58368" y="3008376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94944" y="3063240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42415" y="3008376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78992" y="3063240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83664" y="3008376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920240" y="3063240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VALENCIA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123944" y="3008376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160520" y="3063240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626864" y="3008376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663440" y="3063240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507223" y="3008376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43799" y="3063240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05672" y="3008376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842247" y="306324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400032" y="3008376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436607" y="306324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8368" y="3250692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94944" y="3305556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8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42415" y="3250692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78992" y="3305556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83664" y="3250692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920240" y="3305556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123944" y="3250692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160520" y="3305556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626864" y="3250692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663440" y="3305556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507223" y="3250692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43799" y="3305556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805672" y="325069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842247" y="330555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400032" y="325069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436607" y="330555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58368" y="3493008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94944" y="3547872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9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042415" y="3493008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78992" y="3547872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883664" y="3493008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920240" y="3547872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TAGUM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123944" y="3493008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160520" y="3547872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626864" y="3493008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663440" y="3547872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507223" y="3493008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543799" y="3547872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05672" y="349300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842247" y="3547872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400032" y="349300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9436607" y="3547872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58368" y="3735324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94944" y="3790188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042415" y="3735324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78992" y="3790188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883664" y="3735324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920240" y="3790188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BANSALAN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123944" y="3735324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160520" y="3790188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626864" y="3735324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663440" y="3790188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507223" y="3735324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543799" y="3790188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8805672" y="3735324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8842247" y="3790188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9400032" y="3735324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436607" y="3790188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58368" y="3977640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94944" y="4032504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11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42415" y="3977640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78992" y="4032504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883664" y="3977640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920240" y="4032504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CALINAN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123944" y="3977640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160520" y="4032504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626864" y="3977640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663440" y="4032504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507223" y="3977640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543799" y="4032504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805672" y="397764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842247" y="403250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400032" y="3977640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436607" y="4032504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5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58368" y="4219956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4944" y="4274820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042415" y="4219956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78992" y="4274820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883664" y="4219956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920240" y="4274820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DIGOS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4123944" y="4219956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160520" y="4274820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626864" y="4219956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663440" y="4274820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507223" y="4219956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543799" y="4274820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8805672" y="4219956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842247" y="427482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7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9400032" y="4219956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436607" y="4274820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58368" y="4462272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94944" y="4517136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13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042415" y="4462272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78992" y="4517136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III-B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883664" y="4462272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920240" y="4517136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ECOLAND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4123944" y="4462272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4160520" y="4517136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626864" y="4462272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663440" y="4517136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NMAX155 FI ABS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507223" y="4462272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543799" y="4517136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8805672" y="446227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842247" y="451713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9400032" y="4462272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9436607" y="4517136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658368" y="4704588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94944" y="4759451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14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042415" y="4704588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078992" y="4759451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883664" y="4704588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920240" y="4759451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KIDAPAWAN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4123944" y="4704588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160520" y="4759451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4626864" y="4704588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4663440" y="4759451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BARAKO II (DUAL START)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7507223" y="4704588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7543799" y="4759451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8805672" y="470458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8842247" y="4759451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9400032" y="4704588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9436607" y="4759451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658368" y="4946903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94944" y="5001767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15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042415" y="4946903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078992" y="5001767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IV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883664" y="4946903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920240" y="5001767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MIDSAYAP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4123944" y="4946903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160520" y="5001767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4626864" y="4946903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4663440" y="5001767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507223" y="4946903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543799" y="5001767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8805672" y="4946903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842247" y="5001767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9400032" y="4946903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9436607" y="5001767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658368" y="5189219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94944" y="5244083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16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042415" y="5189219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078992" y="5244083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883664" y="5189219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920240" y="5244083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HONDA KORONADAL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4123944" y="5189219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4160520" y="5244083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4626864" y="5189219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663440" y="5244083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ADV160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7507223" y="5189219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7543799" y="5244083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8805672" y="5189219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8842247" y="5244083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2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9400032" y="5189219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436607" y="5244083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6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658368" y="5431535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94944" y="5486399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17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1042415" y="5431535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1078992" y="5486399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883664" y="5431535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920240" y="5486399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BUTUAN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4123944" y="5431535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4160520" y="5486399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4626864" y="5431535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4663440" y="5486399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7507223" y="5431535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7543799" y="5486399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8805672" y="5431535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8842247" y="5486399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0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9400032" y="5431535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9436607" y="5486399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0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658368" y="5673851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694944" y="5728715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18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042415" y="5673851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078992" y="5728715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883664" y="5673851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1920240" y="5728715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CABADBARAN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4123944" y="5673851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4160520" y="5728715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4626864" y="5673851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4663440" y="5728715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CLICK125 FI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7507223" y="5673851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7543799" y="5728715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8805672" y="5673851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8842247" y="5728715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1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9400032" y="5673851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9436607" y="5728715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3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658368" y="5916167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694944" y="5971031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19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42415" y="5916167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078992" y="5971031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883664" y="5916167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920240" y="5971031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PROSPERIDAD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4123944" y="5916167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4160520" y="5971031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4626864" y="5916167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4663440" y="5971031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7507223" y="5916167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7543799" y="5971031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8805672" y="5916167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8842247" y="5971031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6</a:t>
            </a:r>
          </a:p>
        </p:txBody>
      </p:sp>
      <p:sp>
        <p:nvSpPr>
          <p:cNvPr id="323" name="Rectangle 322"/>
          <p:cNvSpPr/>
          <p:nvPr/>
        </p:nvSpPr>
        <p:spPr>
          <a:xfrm>
            <a:off x="9400032" y="5916167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TextBox 323"/>
          <p:cNvSpPr txBox="1"/>
          <p:nvPr/>
        </p:nvSpPr>
        <p:spPr>
          <a:xfrm>
            <a:off x="9436607" y="5971031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12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658368" y="6158483"/>
            <a:ext cx="3840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694944" y="6213347"/>
            <a:ext cx="3108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FAFC"/>
                </a:solidFill>
              </a:rPr>
              <a:t>20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042415" y="6158483"/>
            <a:ext cx="8412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1078992" y="6213347"/>
            <a:ext cx="768096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AREA VI</a:t>
            </a:r>
          </a:p>
        </p:txBody>
      </p:sp>
      <p:sp>
        <p:nvSpPr>
          <p:cNvPr id="329" name="Rectangle 328"/>
          <p:cNvSpPr/>
          <p:nvPr/>
        </p:nvSpPr>
        <p:spPr>
          <a:xfrm>
            <a:off x="1883664" y="6158483"/>
            <a:ext cx="224028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1920240" y="6213347"/>
            <a:ext cx="216712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F8FAFC"/>
                </a:solidFill>
              </a:rPr>
              <a:t>MUTI SAN FRANCISCO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4123944" y="6158483"/>
            <a:ext cx="50292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4160520" y="6213347"/>
            <a:ext cx="42976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A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4626864" y="6158483"/>
            <a:ext cx="2880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4663440" y="6213347"/>
            <a:ext cx="2807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BAJAJ RE 4S FI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7507223" y="6158483"/>
            <a:ext cx="1298448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7543799" y="6213347"/>
            <a:ext cx="1225295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Stockout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8805672" y="6158483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8842247" y="6213347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1">
                <a:solidFill>
                  <a:srgbClr val="F87171"/>
                </a:solidFill>
              </a:rPr>
              <a:t>3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9400032" y="6158483"/>
            <a:ext cx="594360" cy="224028"/>
          </a:xfrm>
          <a:prstGeom prst="rect">
            <a:avLst/>
          </a:prstGeom>
          <a:solidFill>
            <a:srgbClr val="3A1C2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9436607" y="6213347"/>
            <a:ext cx="521208" cy="150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F8FAFC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91440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MANAGEMENT ACTION 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Use the deck to identify Area exposure, branch priorities and model-level actions from a single KPI export.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2331720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96312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</a:rPr>
              <a:t>1  Review YTD and Weekly KPI movement before approving corrective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118103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82696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2  Prioritize high stock-out Areas and Class A branch exposure.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04487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3  Use all-Branch rankings to assign follow-up owners and replenishment priority.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690872"/>
            <a:ext cx="1078992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10241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8FAFC"/>
                </a:solidFill>
              </a:rPr>
              <a:t>4  Re-import the latest workbook and regenerate this deck for every management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