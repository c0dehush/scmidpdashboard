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11480"/>
            <a:ext cx="3886200" cy="863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5508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46634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</a:rPr>
              <a:t>SCM INVENTORY &amp; DISTRIBUTION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84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Executive KPI Review • YTD • Weekly • Area • All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10424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A branded management deck capturing KPI movement, stock-out exposure, Area ranking, branch risk and model-level priorities.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834640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529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MC Class A DoI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154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3 vs previous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2834640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8529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MUTI MC DoI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154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12 vs previous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2834640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8529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Overall Class A Stock-Out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1546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2 vs previous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343400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361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Stock-Out Rate · Per Branch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66344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 vs previous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17136" y="4343400"/>
            <a:ext cx="50292" cy="10241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3616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Stock-Out · After PO Balance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66344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0 vs previous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254496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Coverage: 8 Areas • 50 Branches • Source: KPI_YTD_Input, KPI_WEEKLY_Input and Raw Distribution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EXECUTIVE KPI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Latest YTD and Weekly results across the five core Supply Chain KPIs.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06908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995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7448" y="1234440"/>
            <a:ext cx="114300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YTD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0448" y="1234440"/>
            <a:ext cx="114300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YTD 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3448" y="1234440"/>
            <a:ext cx="114300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Weekly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1234440"/>
            <a:ext cx="114300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Weekly 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9448" y="1234440"/>
            <a:ext cx="1371600" cy="30175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298448"/>
            <a:ext cx="12984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60934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166420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MC Class A DoI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-3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3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9448" y="160934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66420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197510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202996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MUTI MC DoI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27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7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12 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6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99448" y="197510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202996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340864"/>
            <a:ext cx="406908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239572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Overall Class A Stock-Out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27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0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07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13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6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3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-2%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99448" y="2340864"/>
            <a:ext cx="13716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36024" y="239572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Trend 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2706624"/>
            <a:ext cx="406908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276148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Stock-Out Rate · Per Branch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27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64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70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07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13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0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6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3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99448" y="2706624"/>
            <a:ext cx="13716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6024" y="276148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Trend ↑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307238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312724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Stock-Out · After PO Balance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27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4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70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07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13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50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6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93023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99448" y="307238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36024" y="312724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053328"/>
            <a:ext cx="10881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Use this page as the quick management checkpoint before reviewing YTD, Weekly, Area and all-Branch drilldowns.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YTD KPI TRENDS ·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7" name="Picture 6" descr="tmpordz736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8" name="Picture 7" descr="tmpgfajj5x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9" name="Picture 8" descr="tmpk5y7kh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YTD KPI TRENDS ·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7" name="Picture 6" descr="tmperctqsw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8" name="Picture 7" descr="tmp44uodpj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WEEKLY KPI TRENDS ·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7" name="Picture 6" descr="tmpew6e88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8" name="Picture 7" descr="tmpn92omd4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9" name="Picture 8" descr="tmp3_2dr8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WEEKLY KPI TRENDS ·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7" name="Picture 6" descr="tmp2_lrq3v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8" name="Picture 7" descr="tmpkgywg5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AREA PERFORMANCE · ALL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Identify Areas and Branches with the highest stock-out exposure and Class A service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389888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0817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0992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389888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40817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70992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389888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0817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0992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1389888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40817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70992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6151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AREA STOCK-OUT RANKING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926080"/>
            <a:ext cx="41148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990088"/>
            <a:ext cx="338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" y="2926080"/>
            <a:ext cx="210312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2990088"/>
            <a:ext cx="202996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926080"/>
            <a:ext cx="82296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95928" y="2926080"/>
            <a:ext cx="82296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250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8888" y="2926080"/>
            <a:ext cx="82296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1848" y="2926080"/>
            <a:ext cx="100584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8424" y="2990088"/>
            <a:ext cx="9326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Overall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2186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32735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9848" y="3218688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6424" y="3273552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954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592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1888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41848" y="321868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78424" y="32735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3483864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3538728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9848" y="3483864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6424" y="3538728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954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9592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3250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1888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5546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1848" y="3483864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78424" y="3538728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3749039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" y="380390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9848" y="3749039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06424" y="3803903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954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9592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3250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1888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5546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28%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41848" y="3749039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78424" y="3803903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4014215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406907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9848" y="4014215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6424" y="4069079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954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52%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9592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3250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1888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5546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41848" y="4014215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78424" y="4069079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368" y="4279392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" y="4334255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9848" y="4279392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6424" y="4334255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954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9592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3250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1888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5546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41848" y="4279392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78424" y="4334255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8368" y="45445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" y="4599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69848" y="4544568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06424" y="4599431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7296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954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99592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3250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1888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5546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41848" y="45445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78424" y="4599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8368" y="4809744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4944" y="4864607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69848" y="4809744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06424" y="4864607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17296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0954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99592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03250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81888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5546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41848" y="4809744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678424" y="4864607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8368" y="5074920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4944" y="512978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69848" y="5074920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06424" y="5129783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17296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0954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9592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03250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81888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5546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41848" y="5074920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678424" y="5129783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03720" y="2615184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TOP BRANCH CLASS A STOCK-OUT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903720" y="2926080"/>
            <a:ext cx="41148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0296" y="2990088"/>
            <a:ext cx="338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315200" y="2926080"/>
            <a:ext cx="224028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351775" y="2990088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555480" y="2926080"/>
            <a:ext cx="96012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92055" y="2990088"/>
            <a:ext cx="8869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515600" y="2926080"/>
            <a:ext cx="731520" cy="256032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52176" y="299008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 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03720" y="32186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40296" y="32735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15200" y="3218688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351775" y="3273552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55480" y="3218688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592055" y="3273552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515600" y="3218688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52176" y="3273552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903720" y="3483864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40296" y="3538728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315200" y="3483864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351775" y="3538728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55480" y="3483864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592055" y="3538728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515600" y="3483864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52176" y="3538728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903720" y="3749039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940296" y="380390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15200" y="3749039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51775" y="3803903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555480" y="3749039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592055" y="3803903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515600" y="3749039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52176" y="3803903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903720" y="4014215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40296" y="406907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315200" y="4014215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351775" y="4069079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555480" y="4014215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592055" y="4069079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515600" y="4014215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52176" y="4069079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903720" y="4279392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940296" y="4334255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315200" y="4279392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351775" y="4334255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555480" y="4279392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592055" y="4334255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515600" y="4279392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552176" y="4334255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903720" y="45445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940296" y="4599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315200" y="4544568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351775" y="4599431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555480" y="4544568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592055" y="4599431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515600" y="4544568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552176" y="4599431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03720" y="4809744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40296" y="4864607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315200" y="4809744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51775" y="4864607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555480" y="4809744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592055" y="4864607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0515600" y="4809744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552176" y="4864607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03720" y="5074920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40296" y="512978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315200" y="5074920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351775" y="5129783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555480" y="5074920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592055" y="5129783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515600" y="5074920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552176" y="5129783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903720" y="5340096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0296" y="539495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315200" y="5340096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351775" y="5394959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555480" y="5340096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592055" y="5394959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0515600" y="5340096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552176" y="5394959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63%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903720" y="5605272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940296" y="5660136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15200" y="5605272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351775" y="5660136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555480" y="5605272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592055" y="5660136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515600" y="5605272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552176" y="5660136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CLASS A STOCK-OUT RANKING · 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SO / Status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 /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 /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 /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 /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2898648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295351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" y="2898648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" y="295351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64608" y="2898648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0118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61888" y="2898648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9846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59168" y="2898648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95744" y="295351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" y="3122676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944" y="317754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9848" y="3122676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06424" y="317754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4608" y="312267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0118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61888" y="312267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67%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59168" y="3122676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95744" y="317754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 / 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" y="3346704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4" y="340156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9848" y="3346704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6424" y="340156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64608" y="334670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0118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61888" y="334670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9846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63%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059168" y="3346704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095744" y="340156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" y="3570732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944" y="362559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69848" y="3570732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06424" y="362559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64608" y="357073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0118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961888" y="357073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9846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59168" y="3570732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95744" y="362559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 / 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79476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84962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" y="379476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" y="384962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SURALLAH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6460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0118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6188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9846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57%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59168" y="379476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95744" y="384962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8368" y="401878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4944" y="407365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9848" y="401878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06424" y="407365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6460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0118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6188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99846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59168" y="401878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95744" y="407365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8368" y="424281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94944" y="429768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69848" y="424281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06424" y="429768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CATALUNAN GRANDE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86460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0118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96188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9846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059168" y="424281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095744" y="429768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446684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" y="452170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9848" y="446684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6424" y="452170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PANABO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86460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90118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96188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99846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59168" y="446684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095744" y="452170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8368" y="469087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94944" y="474573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69848" y="469087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06424" y="474573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6460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90118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6188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99846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59168" y="469087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095744" y="474573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58368" y="491490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944" y="496976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69848" y="491490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06424" y="496976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STO. TOMAS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86460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90118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96188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99846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059168" y="491490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095744" y="496976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58368" y="513892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4944" y="519379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69848" y="513892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06424" y="519379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86460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90118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96188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99846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059168" y="513892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095744" y="519379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6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58368" y="536295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4944" y="541782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9848" y="536295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06424" y="541782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86460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0118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96188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99846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059168" y="536295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095744" y="541782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58368" y="558698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4944" y="564184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69848" y="558698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06424" y="564184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MLANG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86460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90118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96188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99846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059168" y="558698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095744" y="564184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7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58368" y="581101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4944" y="586587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69848" y="581101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106424" y="586587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SURALLAH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86460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90118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96188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99846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059168" y="581101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095744" y="586587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58368" y="603504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608990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69848" y="603504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106424" y="608990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CABANTIAN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86460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90118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96188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99846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059168" y="603504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095744" y="608990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8368" y="625906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" y="631393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69848" y="625906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106424" y="631393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KABACAN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86460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90118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96188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99846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059168" y="625906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095744" y="631393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CLASS A STOCK-OUT RANKING · 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SO / Status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TACURONG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BAYUGAN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289864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295351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" y="289864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" y="295351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NABUNTURAN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64608" y="289864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0118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61888" y="289864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9846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59168" y="289864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95744" y="295351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" y="312267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944" y="317754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9848" y="312267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06424" y="317754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64608" y="312267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0118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61888" y="312267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9846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59168" y="312267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95744" y="317754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" y="334670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4" y="340156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9848" y="334670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6424" y="340156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64608" y="334670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0118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61888" y="334670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9846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059168" y="334670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095744" y="340156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" y="357073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944" y="362559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69848" y="357073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06424" y="362559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64608" y="357073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0118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961888" y="357073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9846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59168" y="357073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95744" y="362559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79476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84962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" y="379476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" y="384962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ISULAN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6460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0118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96188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99846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59168" y="379476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95744" y="384962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8368" y="401878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4944" y="407365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9848" y="401878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06424" y="407365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MALUNGON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6460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0118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6188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99846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59168" y="401878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95744" y="407365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8368" y="424281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94944" y="429768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69848" y="424281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06424" y="429768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MARBEL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86460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0118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96188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9846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059168" y="424281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095744" y="429768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446684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" y="452170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9848" y="446684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6424" y="452170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86460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90118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96188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99846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59168" y="446684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095744" y="452170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8368" y="469087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94944" y="474573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69848" y="469087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06424" y="474573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MALUNGON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6460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90118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6188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99846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59168" y="469087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095744" y="474573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58368" y="491490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944" y="496976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69848" y="491490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06424" y="496976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MARAMAG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86460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90118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96188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99846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059168" y="491490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095744" y="496976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58368" y="513892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4944" y="519379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69848" y="513892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06424" y="519379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86460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90118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96188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99846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059168" y="513892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095744" y="519379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58368" y="536295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4944" y="541782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9848" y="536295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06424" y="541782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SAMAL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86460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0118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96188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99846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059168" y="536295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095744" y="541782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58368" y="558698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4944" y="564184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69848" y="558698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06424" y="564184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DON CARLOS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86460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90118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96188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99846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059168" y="558698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095744" y="564184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58368" y="581101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4944" y="586587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69848" y="581101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106424" y="586587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86460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90118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96188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99846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059168" y="581101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095744" y="586587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58368" y="603504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608990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69848" y="603504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106424" y="608990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86460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90118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96188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99846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059168" y="603504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095744" y="608990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8368" y="625906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" y="631393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69848" y="625906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106424" y="631393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86460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90118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96188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99846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059168" y="625906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095744" y="631393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CLASS A STOCK-OUT RANKING · 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SO / Status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ALABEL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GREATWALL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CALAMBA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OZAMIZ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POLOMOLOK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TIBUNGCO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PERFORMANCE · ALL BRANCHES · 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Overall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45%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SURALLAH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32%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51%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36%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17%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51%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PANABO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44%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26%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49%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36%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53%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58%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BANGA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73%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75%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69%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MLANG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658368" y="59618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94944" y="60167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69848" y="59618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106424" y="60167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636008" y="59618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672584" y="60167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7332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698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6476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6842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620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598663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476488" y="59618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13063" y="60167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PERFORMANCE · ALL BRANCHES · 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Overall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CATALUNAN GRANDE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CABANTIAN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TACURONG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DON CARLOS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ISULAN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KABACAN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NABUNTURAN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MARBEL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SURALLAH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MALUNGON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658368" y="59618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94944" y="60167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69848" y="59618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106424" y="60167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BAYUGAN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636008" y="59618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672584" y="60167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7332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698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6476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6842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620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598663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476488" y="59618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513063" y="60167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BRANCH PERFORMANCE · ALL BRANCHES · 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Class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Overall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STO. TOMAS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TIBUNGCO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ALABEL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POLOMOLOK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MARAMAG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46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47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MALUNGON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48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OZAMIZ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49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GREATWALL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CALAMBA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illiant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"/>
            <a:ext cx="2606040" cy="57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9184"/>
            <a:ext cx="795527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ALL-BRANCH MODEL PRIORITY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41732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841248"/>
            <a:ext cx="64008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Top model-level exceptions from branch Model Intelligence, prioritizing Class A and stock-risk conditions.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384048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98448"/>
            <a:ext cx="31089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1234440"/>
            <a:ext cx="841248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298448"/>
            <a:ext cx="76809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1234440"/>
            <a:ext cx="224028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298448"/>
            <a:ext cx="21671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Branch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3944" y="1234440"/>
            <a:ext cx="50292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298448"/>
            <a:ext cx="42976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Cls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6864" y="1234440"/>
            <a:ext cx="28803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298448"/>
            <a:ext cx="2807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07223" y="1234440"/>
            <a:ext cx="1298448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1298448"/>
            <a:ext cx="1225295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05672" y="1234440"/>
            <a:ext cx="5943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7" y="1298448"/>
            <a:ext cx="521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Inv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00032" y="1234440"/>
            <a:ext cx="594360" cy="274320"/>
          </a:xfrm>
          <a:prstGeom prst="rect">
            <a:avLst/>
          </a:prstGeom>
          <a:solidFill>
            <a:srgbClr val="0A2336"/>
          </a:solidFill>
          <a:ln>
            <a:solidFill>
              <a:srgbClr val="2B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7" y="1298448"/>
            <a:ext cx="521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8FAFC"/>
                </a:solidFill>
              </a:rPr>
              <a:t>DoI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55448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160934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5" y="155448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160934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83664" y="155448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160934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3944" y="155448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60934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26864" y="155448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160934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07223" y="155448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799" y="160934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5672" y="155448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2247" y="160934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0032" y="155448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36607" y="160934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1796795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185166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5" y="1796795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185166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83664" y="1796795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185166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23944" y="1796795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185166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1796795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185166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07223" y="1796795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799" y="185166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05672" y="179679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42247" y="185166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00032" y="179679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36607" y="185166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203911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209397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2415" y="203911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209397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83664" y="203911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20240" y="209397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23944" y="203911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0520" y="209397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26864" y="203911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63440" y="209397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07223" y="203911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3799" y="209397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05672" y="203911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42247" y="209397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00032" y="203911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36607" y="209397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" y="228142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944" y="2336292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2415" y="228142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8992" y="2336292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83664" y="228142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20240" y="2336292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23944" y="228142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0520" y="2336292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26864" y="228142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63440" y="2336292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07223" y="228142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3799" y="2336292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05672" y="228142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42247" y="233629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00032" y="228142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36607" y="233629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" y="2523744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944" y="2578608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42415" y="2523744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78992" y="2578608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83664" y="2523744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20240" y="2578608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23944" y="2523744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0520" y="2578608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26864" y="2523744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63440" y="2578608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07223" y="2523744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43799" y="2578608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05672" y="252374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42247" y="257860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400032" y="252374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436607" y="257860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276606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" y="282092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42415" y="276606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78992" y="282092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83664" y="276606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20240" y="282092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23944" y="276606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60520" y="282092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26864" y="276606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63440" y="282092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07223" y="276606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43799" y="282092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05672" y="276606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842247" y="282092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00032" y="276606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436607" y="282092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008376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4944" y="306324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42415" y="3008376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78992" y="306324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83664" y="3008376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920240" y="306324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23944" y="3008376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60520" y="306324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26864" y="3008376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63440" y="306324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07223" y="3008376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43799" y="306324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805672" y="300837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842247" y="306324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400032" y="300837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436607" y="306324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8368" y="325069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944" y="330555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42415" y="325069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78992" y="330555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883664" y="325069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920240" y="330555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23944" y="325069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60520" y="330555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626864" y="325069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663440" y="330555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07223" y="325069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543799" y="330555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05672" y="325069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842247" y="330555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00032" y="325069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436607" y="330555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8368" y="349300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94944" y="3547872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42415" y="349300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78992" y="3547872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883664" y="349300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920240" y="3547872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23944" y="349300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160520" y="3547872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26864" y="349300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0" y="3547872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07223" y="349300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43799" y="3547872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805672" y="349300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842247" y="354787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400032" y="349300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436607" y="354787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58368" y="3735324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944" y="3790188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42415" y="3735324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78992" y="3790188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883664" y="3735324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920240" y="3790188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123944" y="3735324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160520" y="3790188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626864" y="3735324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663440" y="3790188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07223" y="3735324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543799" y="3790188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805672" y="373532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842247" y="379018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400032" y="373532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436607" y="379018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58368" y="397764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4944" y="403250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42415" y="397764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78992" y="403250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883664" y="397764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920240" y="403250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123944" y="397764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160520" y="403250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26864" y="397764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663440" y="403250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507223" y="397764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43799" y="403250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805672" y="397764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842247" y="403250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400032" y="397764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436607" y="403250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58368" y="4219956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94944" y="427482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42415" y="4219956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78992" y="427482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883664" y="4219956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920240" y="427482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123944" y="4219956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160520" y="427482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626864" y="4219956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663440" y="427482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507223" y="4219956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543799" y="427482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805672" y="421995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842247" y="427482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400032" y="421995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436607" y="427482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446227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451713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42415" y="446227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78992" y="451713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883664" y="446227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920240" y="451713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123944" y="446227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160520" y="451713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626864" y="446227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63440" y="451713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NMAX155 FI ABS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507223" y="446227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543799" y="451713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805672" y="446227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842247" y="451713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400032" y="446227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436607" y="451713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58368" y="470458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4759451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42415" y="470458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78992" y="4759451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883664" y="470458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920240" y="4759451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123944" y="470458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160520" y="4759451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626864" y="470458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663440" y="4759451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BARAKO II (DUAL START)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507223" y="470458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543799" y="4759451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805672" y="470458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842247" y="475945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400032" y="470458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436607" y="475945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58368" y="4946903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944" y="5001767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42415" y="4946903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078992" y="5001767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883664" y="4946903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920240" y="5001767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4123944" y="4946903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160520" y="5001767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4626864" y="4946903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663440" y="5001767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507223" y="4946903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7543799" y="5001767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805672" y="494690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842247" y="500176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400032" y="494690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436607" y="500176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58368" y="5189219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94944" y="5244083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42415" y="5189219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78992" y="5244083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883664" y="5189219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920240" y="5244083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123944" y="5189219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160520" y="5244083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4626864" y="5189219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663440" y="5244083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ADV160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507223" y="5189219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543799" y="5244083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805672" y="5189219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8842247" y="5244083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400032" y="5189219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436607" y="5244083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658368" y="5431535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94944" y="5486399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042415" y="5431535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78992" y="5486399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883664" y="5431535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920240" y="5486399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123944" y="5431535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160520" y="5486399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4626864" y="5431535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4663440" y="5486399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507223" y="5431535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543799" y="5486399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8805672" y="543153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8842247" y="5486399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400032" y="543153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436607" y="5486399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58368" y="5673851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94944" y="5728715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042415" y="5673851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078992" y="5728715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883664" y="5673851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920240" y="5728715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4123944" y="5673851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4160520" y="5728715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626864" y="5673851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663440" y="5728715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7507223" y="5673851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7543799" y="5728715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8805672" y="5673851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8842247" y="5728715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400032" y="5673851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9436607" y="5728715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58368" y="5916167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94944" y="5971031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042415" y="5916167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78992" y="5971031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883664" y="5916167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920240" y="5971031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23944" y="5916167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4160520" y="5971031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626864" y="5916167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663440" y="5971031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7507223" y="5916167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7543799" y="5971031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805672" y="5916167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842247" y="597103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400032" y="5916167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9436607" y="597103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58368" y="6158483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94944" y="6213347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1042415" y="6158483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078992" y="6213347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883664" y="6158483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920240" y="6213347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23944" y="6158483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4160520" y="6213347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626864" y="6158483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663440" y="6213347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7507223" y="6158483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7543799" y="6213347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8805672" y="615848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842247" y="621334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9400032" y="615848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9436607" y="621334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MANAGEMENT ACTION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Use the deck to identify Area exposure, branch priorities and model-level actions from a single KPI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96312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1  Review YTD and Weekly KPI movement before approving corrective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18103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82696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2  Prioritize high stock-out Areas and Class A branch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04487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3  Use all-Branch rankings to assign follow-up owners and replenishment priority.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90872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4  Re-import the latest workbook and regenerate this deck for every management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