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  <p:sldId id="331" r:id="rId82"/>
    <p:sldId id="332" r:id="rId83"/>
    <p:sldId id="333" r:id="rId84"/>
    <p:sldId id="334" r:id="rId85"/>
    <p:sldId id="335" r:id="rId86"/>
    <p:sldId id="336" r:id="rId87"/>
    <p:sldId id="337" r:id="rId88"/>
    <p:sldId id="338" r:id="rId89"/>
    <p:sldId id="339" r:id="rId90"/>
    <p:sldId id="340" r:id="rId91"/>
    <p:sldId id="341" r:id="rId92"/>
    <p:sldId id="342" r:id="rId93"/>
    <p:sldId id="343" r:id="rId94"/>
    <p:sldId id="344" r:id="rId95"/>
    <p:sldId id="345" r:id="rId96"/>
    <p:sldId id="346" r:id="rId97"/>
    <p:sldId id="347" r:id="rId98"/>
    <p:sldId id="348" r:id="rId99"/>
    <p:sldId id="349" r:id="rId100"/>
    <p:sldId id="350" r:id="rId101"/>
    <p:sldId id="351" r:id="rId102"/>
    <p:sldId id="352" r:id="rId103"/>
    <p:sldId id="353" r:id="rId104"/>
    <p:sldId id="354" r:id="rId105"/>
    <p:sldId id="355" r:id="rId106"/>
    <p:sldId id="356" r:id="rId107"/>
    <p:sldId id="357" r:id="rId108"/>
    <p:sldId id="358" r:id="rId109"/>
    <p:sldId id="359" r:id="rId110"/>
    <p:sldId id="360" r:id="rId111"/>
    <p:sldId id="361" r:id="rId112"/>
    <p:sldId id="362" r:id="rId113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slide" Target="slides/slide50.xml"/><Relationship Id="rId57" Type="http://schemas.openxmlformats.org/officeDocument/2006/relationships/slide" Target="slides/slide51.xml"/><Relationship Id="rId58" Type="http://schemas.openxmlformats.org/officeDocument/2006/relationships/slide" Target="slides/slide52.xml"/><Relationship Id="rId59" Type="http://schemas.openxmlformats.org/officeDocument/2006/relationships/slide" Target="slides/slide53.xml"/><Relationship Id="rId60" Type="http://schemas.openxmlformats.org/officeDocument/2006/relationships/slide" Target="slides/slide54.xml"/><Relationship Id="rId61" Type="http://schemas.openxmlformats.org/officeDocument/2006/relationships/slide" Target="slides/slide55.xml"/><Relationship Id="rId62" Type="http://schemas.openxmlformats.org/officeDocument/2006/relationships/slide" Target="slides/slide56.xml"/><Relationship Id="rId63" Type="http://schemas.openxmlformats.org/officeDocument/2006/relationships/slide" Target="slides/slide57.xml"/><Relationship Id="rId64" Type="http://schemas.openxmlformats.org/officeDocument/2006/relationships/slide" Target="slides/slide58.xml"/><Relationship Id="rId65" Type="http://schemas.openxmlformats.org/officeDocument/2006/relationships/slide" Target="slides/slide59.xml"/><Relationship Id="rId66" Type="http://schemas.openxmlformats.org/officeDocument/2006/relationships/slide" Target="slides/slide60.xml"/><Relationship Id="rId67" Type="http://schemas.openxmlformats.org/officeDocument/2006/relationships/slide" Target="slides/slide61.xml"/><Relationship Id="rId68" Type="http://schemas.openxmlformats.org/officeDocument/2006/relationships/slide" Target="slides/slide62.xml"/><Relationship Id="rId69" Type="http://schemas.openxmlformats.org/officeDocument/2006/relationships/slide" Target="slides/slide63.xml"/><Relationship Id="rId70" Type="http://schemas.openxmlformats.org/officeDocument/2006/relationships/slide" Target="slides/slide64.xml"/><Relationship Id="rId71" Type="http://schemas.openxmlformats.org/officeDocument/2006/relationships/slide" Target="slides/slide65.xml"/><Relationship Id="rId72" Type="http://schemas.openxmlformats.org/officeDocument/2006/relationships/slide" Target="slides/slide66.xml"/><Relationship Id="rId73" Type="http://schemas.openxmlformats.org/officeDocument/2006/relationships/slide" Target="slides/slide67.xml"/><Relationship Id="rId74" Type="http://schemas.openxmlformats.org/officeDocument/2006/relationships/slide" Target="slides/slide68.xml"/><Relationship Id="rId75" Type="http://schemas.openxmlformats.org/officeDocument/2006/relationships/slide" Target="slides/slide69.xml"/><Relationship Id="rId76" Type="http://schemas.openxmlformats.org/officeDocument/2006/relationships/slide" Target="slides/slide70.xml"/><Relationship Id="rId77" Type="http://schemas.openxmlformats.org/officeDocument/2006/relationships/slide" Target="slides/slide71.xml"/><Relationship Id="rId78" Type="http://schemas.openxmlformats.org/officeDocument/2006/relationships/slide" Target="slides/slide72.xml"/><Relationship Id="rId79" Type="http://schemas.openxmlformats.org/officeDocument/2006/relationships/slide" Target="slides/slide73.xml"/><Relationship Id="rId80" Type="http://schemas.openxmlformats.org/officeDocument/2006/relationships/slide" Target="slides/slide74.xml"/><Relationship Id="rId81" Type="http://schemas.openxmlformats.org/officeDocument/2006/relationships/slide" Target="slides/slide75.xml"/><Relationship Id="rId82" Type="http://schemas.openxmlformats.org/officeDocument/2006/relationships/slide" Target="slides/slide76.xml"/><Relationship Id="rId83" Type="http://schemas.openxmlformats.org/officeDocument/2006/relationships/slide" Target="slides/slide77.xml"/><Relationship Id="rId84" Type="http://schemas.openxmlformats.org/officeDocument/2006/relationships/slide" Target="slides/slide78.xml"/><Relationship Id="rId85" Type="http://schemas.openxmlformats.org/officeDocument/2006/relationships/slide" Target="slides/slide79.xml"/><Relationship Id="rId86" Type="http://schemas.openxmlformats.org/officeDocument/2006/relationships/slide" Target="slides/slide80.xml"/><Relationship Id="rId87" Type="http://schemas.openxmlformats.org/officeDocument/2006/relationships/slide" Target="slides/slide81.xml"/><Relationship Id="rId88" Type="http://schemas.openxmlformats.org/officeDocument/2006/relationships/slide" Target="slides/slide82.xml"/><Relationship Id="rId89" Type="http://schemas.openxmlformats.org/officeDocument/2006/relationships/slide" Target="slides/slide83.xml"/><Relationship Id="rId90" Type="http://schemas.openxmlformats.org/officeDocument/2006/relationships/slide" Target="slides/slide84.xml"/><Relationship Id="rId91" Type="http://schemas.openxmlformats.org/officeDocument/2006/relationships/slide" Target="slides/slide85.xml"/><Relationship Id="rId92" Type="http://schemas.openxmlformats.org/officeDocument/2006/relationships/slide" Target="slides/slide86.xml"/><Relationship Id="rId93" Type="http://schemas.openxmlformats.org/officeDocument/2006/relationships/slide" Target="slides/slide87.xml"/><Relationship Id="rId94" Type="http://schemas.openxmlformats.org/officeDocument/2006/relationships/slide" Target="slides/slide88.xml"/><Relationship Id="rId95" Type="http://schemas.openxmlformats.org/officeDocument/2006/relationships/slide" Target="slides/slide89.xml"/><Relationship Id="rId96" Type="http://schemas.openxmlformats.org/officeDocument/2006/relationships/slide" Target="slides/slide90.xml"/><Relationship Id="rId97" Type="http://schemas.openxmlformats.org/officeDocument/2006/relationships/slide" Target="slides/slide91.xml"/><Relationship Id="rId98" Type="http://schemas.openxmlformats.org/officeDocument/2006/relationships/slide" Target="slides/slide92.xml"/><Relationship Id="rId99" Type="http://schemas.openxmlformats.org/officeDocument/2006/relationships/slide" Target="slides/slide93.xml"/><Relationship Id="rId100" Type="http://schemas.openxmlformats.org/officeDocument/2006/relationships/slide" Target="slides/slide94.xml"/><Relationship Id="rId101" Type="http://schemas.openxmlformats.org/officeDocument/2006/relationships/slide" Target="slides/slide95.xml"/><Relationship Id="rId102" Type="http://schemas.openxmlformats.org/officeDocument/2006/relationships/slide" Target="slides/slide96.xml"/><Relationship Id="rId103" Type="http://schemas.openxmlformats.org/officeDocument/2006/relationships/slide" Target="slides/slide97.xml"/><Relationship Id="rId104" Type="http://schemas.openxmlformats.org/officeDocument/2006/relationships/slide" Target="slides/slide98.xml"/><Relationship Id="rId105" Type="http://schemas.openxmlformats.org/officeDocument/2006/relationships/slide" Target="slides/slide99.xml"/><Relationship Id="rId106" Type="http://schemas.openxmlformats.org/officeDocument/2006/relationships/slide" Target="slides/slide100.xml"/><Relationship Id="rId107" Type="http://schemas.openxmlformats.org/officeDocument/2006/relationships/slide" Target="slides/slide101.xml"/><Relationship Id="rId108" Type="http://schemas.openxmlformats.org/officeDocument/2006/relationships/slide" Target="slides/slide102.xml"/><Relationship Id="rId109" Type="http://schemas.openxmlformats.org/officeDocument/2006/relationships/slide" Target="slides/slide103.xml"/><Relationship Id="rId110" Type="http://schemas.openxmlformats.org/officeDocument/2006/relationships/slide" Target="slides/slide104.xml"/><Relationship Id="rId111" Type="http://schemas.openxmlformats.org/officeDocument/2006/relationships/slide" Target="slides/slide105.xml"/><Relationship Id="rId112" Type="http://schemas.openxmlformats.org/officeDocument/2006/relationships/slide" Target="slides/slide106.xml"/><Relationship Id="rId113" Type="http://schemas.openxmlformats.org/officeDocument/2006/relationships/slide" Target="slides/slide107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10.png"/><Relationship Id="rId4" Type="http://schemas.openxmlformats.org/officeDocument/2006/relationships/image" Target="../media/image1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1792" y="411480"/>
            <a:ext cx="3886200" cy="86360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0" y="6355080"/>
            <a:ext cx="12191695" cy="91440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0" y="6446520"/>
            <a:ext cx="4663440" cy="54864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TextBox 4"/>
          <p:cNvSpPr txBox="1"/>
          <p:nvPr/>
        </p:nvSpPr>
        <p:spPr>
          <a:xfrm>
            <a:off x="658368" y="1417320"/>
            <a:ext cx="10881360" cy="53035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3000" b="1">
                <a:solidFill>
                  <a:srgbClr val="F8FAFC"/>
                </a:solidFill>
              </a:rPr>
              <a:t>SCM INVENTORY &amp; DISTRIBUTION PLANNING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58368" y="1984248"/>
            <a:ext cx="1088136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400" b="1">
                <a:solidFill>
                  <a:srgbClr val="FBBF24"/>
                </a:solidFill>
              </a:rPr>
              <a:t>Executive KPI Review • YTD • Weekly • Area • Branch Model Details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58368" y="2468880"/>
            <a:ext cx="10424160" cy="4754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400" b="0">
                <a:solidFill>
                  <a:srgbClr val="94A3B8"/>
                </a:solidFill>
              </a:rPr>
              <a:t>A branded management deck capturing KPI movement, Area stock-out rates, branch risk and Class A/B/C model-level action details.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58368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ectangle 8"/>
          <p:cNvSpPr/>
          <p:nvPr/>
        </p:nvSpPr>
        <p:spPr>
          <a:xfrm>
            <a:off x="749808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59536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MC Class A DoI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859536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822959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4ADE80"/>
                </a:solidFill>
              </a:rPr>
              <a:t>▼ 3 vs previous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425696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ectangle 13"/>
          <p:cNvSpPr/>
          <p:nvPr/>
        </p:nvSpPr>
        <p:spPr>
          <a:xfrm>
            <a:off x="4517136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626864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MUTI MC DoI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626864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590288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12 vs previous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8193024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8284464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394192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Overall Class A Stock-Out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4192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357616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2 vs previous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58368" y="425196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749808" y="434340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59536" y="436168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Stock-Out Rate · Per Branch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59536" y="466344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2959" y="511149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1 vs previous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4425696" y="425196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4517136" y="434340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626864" y="436168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Stock-Out · After PO Balance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626864" y="466344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4590288" y="511149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4ADE80"/>
                </a:solidFill>
              </a:rPr>
              <a:t>▼ 0 vs previous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58368" y="6254496"/>
            <a:ext cx="107899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0">
                <a:solidFill>
                  <a:srgbClr val="94A3B8"/>
                </a:solidFill>
              </a:rPr>
              <a:t>Coverage: 8 Areas • 50 Branches • Source: KPI_YTD_Input, KPI_WEEKLY_Input and Raw Distribution data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EXECUTIVE KPI SUMMARY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Latest YTD and Weekly results across the five core Supply Chain KPIs.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06908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99592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KPI</a:t>
            </a:r>
          </a:p>
        </p:txBody>
      </p:sp>
      <p:sp>
        <p:nvSpPr>
          <p:cNvPr id="9" name="Rectangle 8"/>
          <p:cNvSpPr/>
          <p:nvPr/>
        </p:nvSpPr>
        <p:spPr>
          <a:xfrm>
            <a:off x="4727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4764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YTD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870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5907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YTD Δ</a:t>
            </a:r>
          </a:p>
        </p:txBody>
      </p:sp>
      <p:sp>
        <p:nvSpPr>
          <p:cNvPr id="13" name="Rectangle 12"/>
          <p:cNvSpPr/>
          <p:nvPr/>
        </p:nvSpPr>
        <p:spPr>
          <a:xfrm>
            <a:off x="7013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7050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Weekly</a:t>
            </a:r>
          </a:p>
        </p:txBody>
      </p:sp>
      <p:sp>
        <p:nvSpPr>
          <p:cNvPr id="15" name="Rectangle 14"/>
          <p:cNvSpPr/>
          <p:nvPr/>
        </p:nvSpPr>
        <p:spPr>
          <a:xfrm>
            <a:off x="8156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193023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Weekly Δ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299448" y="1234440"/>
            <a:ext cx="13716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9336024" y="1298448"/>
            <a:ext cx="12984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Direction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8368" y="160934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94944" y="166420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MC Class A DoI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727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764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870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07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-3 d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13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50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156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193023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9" name="Rectangle 28"/>
          <p:cNvSpPr/>
          <p:nvPr/>
        </p:nvSpPr>
        <p:spPr>
          <a:xfrm>
            <a:off x="9299448" y="160934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9336024" y="166420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31" name="Rectangle 30"/>
          <p:cNvSpPr/>
          <p:nvPr/>
        </p:nvSpPr>
        <p:spPr>
          <a:xfrm>
            <a:off x="658368" y="197510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694944" y="202996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MUTI MC DoI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4727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764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35" name="Rectangle 34"/>
          <p:cNvSpPr/>
          <p:nvPr/>
        </p:nvSpPr>
        <p:spPr>
          <a:xfrm>
            <a:off x="5870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07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12 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7013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7050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39" name="Rectangle 38"/>
          <p:cNvSpPr/>
          <p:nvPr/>
        </p:nvSpPr>
        <p:spPr>
          <a:xfrm>
            <a:off x="8156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193023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299448" y="197510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336024" y="202996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58368" y="2340864"/>
            <a:ext cx="406908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94944" y="239572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Overall Class A Stock-Out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727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764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5870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907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7013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050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38%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156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193023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-2%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299448" y="2340864"/>
            <a:ext cx="13716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336024" y="239572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Trend ↓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06624"/>
            <a:ext cx="406908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76148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Stock-Out Rate · Per Branch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727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764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5870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5907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013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050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33%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156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193023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299448" y="2706624"/>
            <a:ext cx="13716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336024" y="276148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Trend ↑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307238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312724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Stock-Out · After PO Balance</a:t>
            </a:r>
          </a:p>
        </p:txBody>
      </p:sp>
      <p:sp>
        <p:nvSpPr>
          <p:cNvPr id="69" name="Rectangle 68"/>
          <p:cNvSpPr/>
          <p:nvPr/>
        </p:nvSpPr>
        <p:spPr>
          <a:xfrm>
            <a:off x="4727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764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870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907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013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050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156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193023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9299448" y="307238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336024" y="312724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58368" y="6053328"/>
            <a:ext cx="10881360" cy="2377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950" b="0">
                <a:solidFill>
                  <a:srgbClr val="94A3B8"/>
                </a:solidFill>
              </a:rPr>
              <a:t>Use this page as the quick management checkpoint before reviewing YTD, Weekly, Area and all-Branch drilldowns.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YTD KPI TRENDS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u1uozfny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bnkfsz4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  <p:pic>
        <p:nvPicPr>
          <p:cNvPr id="9" name="Picture 8" descr="tmp3hxqs8r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368" y="4581144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YTD KPI TRENDS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tiijzsbu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016towrh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WEEKLY KPI TRENDS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lkphf3s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cjwwoo0z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  <p:pic>
        <p:nvPicPr>
          <p:cNvPr id="9" name="Picture 8" descr="tmprv0dezis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368" y="4581144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WEEKLY KPI TRENDS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0njomobg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oo7d2y_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AREA PERFORMANCE · ALL AREAS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Identify Areas and Branches with the highest stock-out exposure and Class A service risk.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658368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749808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859536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A Stock-Out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59536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474720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3566160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3675887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B Stock-Out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675887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91072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6382512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492240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C Stock-Out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492240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9107424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9198864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308592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Overall Average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308592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58368" y="2615184"/>
            <a:ext cx="107899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1">
                <a:solidFill>
                  <a:srgbClr val="FBBF24"/>
                </a:solidFill>
              </a:rPr>
              <a:t>AREA STOCK-OUT RANKING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58368" y="2926080"/>
            <a:ext cx="4114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94944" y="2990088"/>
            <a:ext cx="3383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069848" y="2926080"/>
            <a:ext cx="21031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106424" y="2990088"/>
            <a:ext cx="2029967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317296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20954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99592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03250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2" name="Rectangle 31"/>
          <p:cNvSpPr/>
          <p:nvPr/>
        </p:nvSpPr>
        <p:spPr>
          <a:xfrm>
            <a:off x="481888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85546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4" name="Rectangle 33"/>
          <p:cNvSpPr/>
          <p:nvPr/>
        </p:nvSpPr>
        <p:spPr>
          <a:xfrm>
            <a:off x="5641848" y="2926080"/>
            <a:ext cx="100584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678424" y="2990088"/>
            <a:ext cx="93268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58368" y="32186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694944" y="32735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69848" y="3218688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106424" y="3273552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17296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20954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46%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99592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03250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481888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485546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33%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5641848" y="321868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5678424" y="32735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48" name="Rectangle 47"/>
          <p:cNvSpPr/>
          <p:nvPr/>
        </p:nvSpPr>
        <p:spPr>
          <a:xfrm>
            <a:off x="658368" y="3483864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694944" y="3538728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0" name="Rectangle 49"/>
          <p:cNvSpPr/>
          <p:nvPr/>
        </p:nvSpPr>
        <p:spPr>
          <a:xfrm>
            <a:off x="1069848" y="3483864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1106424" y="3538728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2" name="Rectangle 51"/>
          <p:cNvSpPr/>
          <p:nvPr/>
        </p:nvSpPr>
        <p:spPr>
          <a:xfrm>
            <a:off x="317296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20954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99592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403250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81888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85546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28%</a:t>
            </a:r>
          </a:p>
        </p:txBody>
      </p:sp>
      <p:sp>
        <p:nvSpPr>
          <p:cNvPr id="58" name="Rectangle 57"/>
          <p:cNvSpPr/>
          <p:nvPr/>
        </p:nvSpPr>
        <p:spPr>
          <a:xfrm>
            <a:off x="5641848" y="3483864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5678424" y="3538728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39%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58368" y="3749039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694944" y="380390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9848" y="3749039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106424" y="3803903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64" name="Rectangle 63"/>
          <p:cNvSpPr/>
          <p:nvPr/>
        </p:nvSpPr>
        <p:spPr>
          <a:xfrm>
            <a:off x="317296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320954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66" name="Rectangle 65"/>
          <p:cNvSpPr/>
          <p:nvPr/>
        </p:nvSpPr>
        <p:spPr>
          <a:xfrm>
            <a:off x="399592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403250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81888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85546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28%</a:t>
            </a:r>
          </a:p>
        </p:txBody>
      </p:sp>
      <p:sp>
        <p:nvSpPr>
          <p:cNvPr id="70" name="Rectangle 69"/>
          <p:cNvSpPr/>
          <p:nvPr/>
        </p:nvSpPr>
        <p:spPr>
          <a:xfrm>
            <a:off x="5641848" y="3749039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5678424" y="3803903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38%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658368" y="4014215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694944" y="406907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069848" y="4014215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06424" y="4069079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17296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320954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52%</a:t>
            </a:r>
          </a:p>
        </p:txBody>
      </p:sp>
      <p:sp>
        <p:nvSpPr>
          <p:cNvPr id="78" name="Rectangle 77"/>
          <p:cNvSpPr/>
          <p:nvPr/>
        </p:nvSpPr>
        <p:spPr>
          <a:xfrm>
            <a:off x="399592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03250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80" name="Rectangle 79"/>
          <p:cNvSpPr/>
          <p:nvPr/>
        </p:nvSpPr>
        <p:spPr>
          <a:xfrm>
            <a:off x="481888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485546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82" name="Rectangle 81"/>
          <p:cNvSpPr/>
          <p:nvPr/>
        </p:nvSpPr>
        <p:spPr>
          <a:xfrm>
            <a:off x="5641848" y="4014215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5678424" y="4069079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58368" y="4279392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694944" y="4334255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069848" y="4279392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1106424" y="4334255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88" name="Rectangle 87"/>
          <p:cNvSpPr/>
          <p:nvPr/>
        </p:nvSpPr>
        <p:spPr>
          <a:xfrm>
            <a:off x="317296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320954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90" name="Rectangle 89"/>
          <p:cNvSpPr/>
          <p:nvPr/>
        </p:nvSpPr>
        <p:spPr>
          <a:xfrm>
            <a:off x="399592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403250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81888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85546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5641848" y="4279392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5678424" y="4334255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96" name="Rectangle 95"/>
          <p:cNvSpPr/>
          <p:nvPr/>
        </p:nvSpPr>
        <p:spPr>
          <a:xfrm>
            <a:off x="658368" y="45445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694944" y="4599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9848" y="4544568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06424" y="4599431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317296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0954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399592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03250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481888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485546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5641848" y="45445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5678424" y="4599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658368" y="4809744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694944" y="4864607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069848" y="4809744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1106424" y="4864607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317296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20954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399592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403250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81888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85546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5641848" y="4809744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5678424" y="4864607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658368" y="5074920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94944" y="512978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1069848" y="5074920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1106424" y="5129783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317296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320954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99592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403250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481888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485546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5641848" y="5074920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5678424" y="5129783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903720" y="2615184"/>
            <a:ext cx="434340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1">
                <a:solidFill>
                  <a:srgbClr val="FBBF24"/>
                </a:solidFill>
              </a:rPr>
              <a:t>TOP BRANCH CLASS A STOCK-OUT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903720" y="2926080"/>
            <a:ext cx="4114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0296" y="2990088"/>
            <a:ext cx="3383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315200" y="2926080"/>
            <a:ext cx="22402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351775" y="2990088"/>
            <a:ext cx="21671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555480" y="2926080"/>
            <a:ext cx="9601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592055" y="2990088"/>
            <a:ext cx="88696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515600" y="2926080"/>
            <a:ext cx="7315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0552176" y="2990088"/>
            <a:ext cx="65836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 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903720" y="32186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940296" y="32735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315200" y="3218688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351775" y="3273552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9555480" y="3218688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9592055" y="3273552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10515600" y="3218688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10552176" y="3273552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903720" y="3483864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940296" y="3538728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7315200" y="3483864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7351775" y="3538728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9555480" y="3483864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9592055" y="3538728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515600" y="3483864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0552176" y="3538728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903720" y="3749039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0296" y="380390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7315200" y="3749039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7351775" y="3803903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9555480" y="3749039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9592055" y="3803903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515600" y="3749039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0552176" y="3803903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903720" y="4014215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940296" y="406907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315200" y="4014215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351775" y="4069079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9555480" y="4014215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9592055" y="4069079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0515600" y="4014215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0552176" y="4069079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75%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903720" y="4279392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940296" y="4334255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315200" y="4279392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351775" y="4334255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555480" y="4279392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592055" y="4334255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515600" y="4279392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0552176" y="4334255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903720" y="45445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0296" y="4599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7315200" y="4544568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7351775" y="4599431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555480" y="4544568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592055" y="4599431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515600" y="4544568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552176" y="4599431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903720" y="4809744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0296" y="4864607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7315200" y="4809744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7351775" y="4864607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555480" y="4809744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592055" y="4864607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10515600" y="4809744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10552176" y="4864607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903720" y="5074920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0296" y="512978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315200" y="5074920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351775" y="5129783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9555480" y="5074920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9592055" y="5129783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10515600" y="5074920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10552176" y="5129783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903720" y="5340096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940296" y="539495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7315200" y="5340096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7351775" y="5394959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555480" y="5340096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592055" y="5394959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515600" y="5340096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552176" y="5394959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903720" y="5605272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6940296" y="5660136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315200" y="5605272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351775" y="5660136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9555480" y="5605272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9592055" y="5660136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515600" y="5605272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0552176" y="5660136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60%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1/3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 / 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 / 1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 / 2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75%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 / 4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898648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95351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898648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95351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864608" y="2898648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90118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961888" y="2898648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99846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7059168" y="2898648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095744" y="295351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3122676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317754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69848" y="3122676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106424" y="317754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91" name="Rectangle 90"/>
          <p:cNvSpPr/>
          <p:nvPr/>
        </p:nvSpPr>
        <p:spPr>
          <a:xfrm>
            <a:off x="4864608" y="312267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490118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961888" y="312267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599846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67%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7059168" y="3122676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7095744" y="317754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 / 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346704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40156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346704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40156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4864608" y="334670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490118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5961888" y="334670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599846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63%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059168" y="3346704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7095744" y="340156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658368" y="3570732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694944" y="362559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069848" y="3570732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1106424" y="362559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864608" y="357073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90118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5961888" y="357073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599846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059168" y="3570732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095744" y="362559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 / 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58368" y="379476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94944" y="384962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1069848" y="379476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1106424" y="384962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486460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90118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596188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599846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57%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7059168" y="379476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95744" y="384962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58368" y="401878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94944" y="407365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69848" y="401878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106424" y="407365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486460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0118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596188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599846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059168" y="401878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095744" y="407365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8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658368" y="424281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694944" y="429768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69848" y="424281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106424" y="429768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86460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90118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96188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599846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059168" y="424281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095744" y="429768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6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46684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52170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46684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52170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86460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90118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96188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99846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7059168" y="446684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7095744" y="452170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58368" y="469087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944" y="474573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69848" y="469087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106424" y="474573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486460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490118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6188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99846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059168" y="469087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7095744" y="474573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1490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496976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1490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496976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486460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490118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596188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99846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059168" y="491490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095744" y="496976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58368" y="513892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94944" y="519379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69848" y="513892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106424" y="519379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486460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490118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96188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99846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059168" y="513892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095744" y="519379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6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58368" y="536295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94944" y="541782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069848" y="536295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06424" y="541782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86460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90118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596188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599846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059168" y="536295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095744" y="541782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9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58368" y="558698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944" y="564184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69848" y="558698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106424" y="564184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486460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490118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596188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99846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059168" y="558698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095744" y="564184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7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58368" y="581101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94944" y="586587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1069848" y="581101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1106424" y="586587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486460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490118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596188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599846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059168" y="581101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095744" y="586587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603504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608990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603504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608990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86460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90118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96188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99846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059168" y="603504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095744" y="608990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658368" y="625906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94944" y="631393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1069848" y="625906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1106424" y="631393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486460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490118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596188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599846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7059168" y="625906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7095744" y="631393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2/3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89864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95351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89864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95351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864608" y="289864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90118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961888" y="289864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99846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7059168" y="289864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095744" y="295351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312267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317754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69848" y="312267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106424" y="317754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91" name="Rectangle 90"/>
          <p:cNvSpPr/>
          <p:nvPr/>
        </p:nvSpPr>
        <p:spPr>
          <a:xfrm>
            <a:off x="4864608" y="312267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490118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961888" y="312267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599846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7059168" y="312267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7095744" y="317754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34670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40156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34670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40156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4864608" y="334670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490118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5961888" y="334670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599846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059168" y="334670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7095744" y="340156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658368" y="357073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694944" y="362559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069848" y="357073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1106424" y="362559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864608" y="357073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90118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5961888" y="357073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599846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059168" y="357073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095744" y="362559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58368" y="379476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94944" y="384962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1069848" y="379476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1106424" y="384962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486460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90118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596188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599846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7059168" y="379476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95744" y="384962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58368" y="401878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94944" y="407365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69848" y="401878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106424" y="407365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486460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0118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596188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599846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059168" y="401878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095744" y="407365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658368" y="424281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694944" y="429768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69848" y="424281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106424" y="429768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86460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90118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96188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599846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059168" y="424281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095744" y="429768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46684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52170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46684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52170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86460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90118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96188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99846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7059168" y="446684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7095744" y="452170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58368" y="469087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944" y="474573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69848" y="469087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106424" y="474573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486460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490118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6188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99846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059168" y="469087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7095744" y="474573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1490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496976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1490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496976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486460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490118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596188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99846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059168" y="491490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095744" y="496976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58368" y="513892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94944" y="519379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69848" y="513892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106424" y="519379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486460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490118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96188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99846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059168" y="513892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095744" y="519379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58368" y="536295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94944" y="541782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069848" y="536295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06424" y="541782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86460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90118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596188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599846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059168" y="536295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095744" y="541782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58368" y="558698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944" y="564184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69848" y="558698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106424" y="564184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486460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490118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596188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99846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059168" y="558698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095744" y="564184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58368" y="581101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94944" y="586587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1069848" y="581101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1106424" y="586587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486460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490118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596188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599846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059168" y="581101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095744" y="586587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603504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608990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603504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608990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86460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90118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96188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99846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059168" y="603504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095744" y="608990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658368" y="625906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94944" y="631393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1069848" y="625906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1106424" y="631393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486460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490118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596188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599846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7059168" y="625906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7095744" y="631393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7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3/3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7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5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19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16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2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1/3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67%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53%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63%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73%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22%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52%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45%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52%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57%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65%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32%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51%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36%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17%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51%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29%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60%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44%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49%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36%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53%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658368" y="59618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694944" y="60167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1069848" y="59618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1106424" y="60167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4636008" y="59618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4672584" y="60167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57332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57698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67%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66476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66842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75620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7598663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8476488" y="59618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8513063" y="60167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2/3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27%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658368" y="59618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694944" y="60167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1069848" y="59618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1106424" y="60167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4636008" y="59618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4672584" y="60167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57332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57698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66476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66842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75620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7598663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8476488" y="59618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8513063" y="60167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3/3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CRF150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S 155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56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CRF150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CT100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51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ROUSER NS125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XRM MOTARD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RAIDER150 FI BLADE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AVENIS125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GIXXER 250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69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19/92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RAIDER150 FI BLADE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63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CARB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158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RAIDER150 FI BLADE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138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29/92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529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559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96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113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84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599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619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629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315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659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669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69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39/92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210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77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XRM DUAL SPORTS FI(DS)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749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KLX150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RAIDER150 FI BLADE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769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XRM MOTARD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789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809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51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XRM DUAL SPORTS FI(DS)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829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KLX300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49/92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869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879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 J CROSSOVER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899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49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919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SPORTY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SUPRA GTR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929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BARAKO II (DUAL START)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KLX150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83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939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949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959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FI(KICK START)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CT125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979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989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CLICK160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999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108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1019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MT-03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176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-176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-282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1029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1080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58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-58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88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-88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1039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-29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59/92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-79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-64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1059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-26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1069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1079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1099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CUV e: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1119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S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CRF150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1129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GIXXER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1149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1159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1169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1179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450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1189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XRM DUAL SPORTS FI(DS)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1199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1219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69/92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1229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SPORTY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 J CROSSOVER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1239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1249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1259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SP. ED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1279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210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1289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113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1309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TECHMAX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KLX150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1329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1339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GIXXER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1349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W175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1369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1379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1399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79/92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1409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1419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1429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YTX125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1439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1449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1459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1469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83/92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1479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1489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84/92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CT125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1499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315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85/92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1519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131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1529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BEAT FI PREM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120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86/92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1539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87/92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1549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CLICK160 FI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1559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 ROADSYNC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1562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1563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1564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1565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1566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CARB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88/92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1567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1569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1574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1575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1576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1577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1578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1579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1580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1582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1583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1584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89/92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1585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1590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1592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1593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1594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1597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1598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1599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1601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1602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90/92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1603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1606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1607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1608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1609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1611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 SE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1613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MIO AEROX 155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YAMAHA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SNIPER 155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1615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129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1616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1617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1618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1619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1620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91/92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1621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1624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1626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1629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1631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1633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75488" y="500176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512064" y="505663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1634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804672" y="500176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841248" y="505663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1444752" y="500176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481328" y="505663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3072384" y="500176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3108960" y="505663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3456432" y="500176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3493008" y="505663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4325112" y="500176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4361688" y="505663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6656832" y="500176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6693408" y="505663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7754112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7790688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8257032" y="500176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8293608" y="505663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8915400" y="500176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8951976" y="505663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475488" y="526694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512064" y="532180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1635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804672" y="526694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841248" y="532180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1444752" y="526694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1481328" y="532180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3072384" y="526694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3108960" y="532180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3456432" y="526694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3493008" y="532180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325112" y="526694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361688" y="532180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6656832" y="526694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6693408" y="532180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754112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790688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257032" y="526694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293608" y="532180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8915400" y="526694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8951976" y="532180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475488" y="553212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512064" y="558698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1636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04672" y="553212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41248" y="558698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444752" y="553212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481328" y="558698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3072384" y="553212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3108960" y="558698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456432" y="553212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493008" y="558698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4325112" y="553212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4361688" y="558698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6656832" y="553212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6693408" y="558698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7754112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7790688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43" name="Rectangle 342"/>
          <p:cNvSpPr/>
          <p:nvPr/>
        </p:nvSpPr>
        <p:spPr>
          <a:xfrm>
            <a:off x="8257032" y="553212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TextBox 343"/>
          <p:cNvSpPr txBox="1"/>
          <p:nvPr/>
        </p:nvSpPr>
        <p:spPr>
          <a:xfrm>
            <a:off x="8293608" y="558698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345" name="Rectangle 344"/>
          <p:cNvSpPr/>
          <p:nvPr/>
        </p:nvSpPr>
        <p:spPr>
          <a:xfrm>
            <a:off x="8915400" y="553212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TextBox 345"/>
          <p:cNvSpPr txBox="1"/>
          <p:nvPr/>
        </p:nvSpPr>
        <p:spPr>
          <a:xfrm>
            <a:off x="8951976" y="558698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47" name="Rectangle 346"/>
          <p:cNvSpPr/>
          <p:nvPr/>
        </p:nvSpPr>
        <p:spPr>
          <a:xfrm>
            <a:off x="475488" y="579729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TextBox 347"/>
          <p:cNvSpPr txBox="1"/>
          <p:nvPr/>
        </p:nvSpPr>
        <p:spPr>
          <a:xfrm>
            <a:off x="512064" y="585215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1637</a:t>
            </a:r>
          </a:p>
        </p:txBody>
      </p:sp>
      <p:sp>
        <p:nvSpPr>
          <p:cNvPr id="349" name="Rectangle 348"/>
          <p:cNvSpPr/>
          <p:nvPr/>
        </p:nvSpPr>
        <p:spPr>
          <a:xfrm>
            <a:off x="804672" y="579729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TextBox 349"/>
          <p:cNvSpPr txBox="1"/>
          <p:nvPr/>
        </p:nvSpPr>
        <p:spPr>
          <a:xfrm>
            <a:off x="841248" y="585215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51" name="Rectangle 350"/>
          <p:cNvSpPr/>
          <p:nvPr/>
        </p:nvSpPr>
        <p:spPr>
          <a:xfrm>
            <a:off x="1444752" y="579729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TextBox 351"/>
          <p:cNvSpPr txBox="1"/>
          <p:nvPr/>
        </p:nvSpPr>
        <p:spPr>
          <a:xfrm>
            <a:off x="1481328" y="585215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53" name="Rectangle 352"/>
          <p:cNvSpPr/>
          <p:nvPr/>
        </p:nvSpPr>
        <p:spPr>
          <a:xfrm>
            <a:off x="3072384" y="579729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3108960" y="585215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5" name="Rectangle 354"/>
          <p:cNvSpPr/>
          <p:nvPr/>
        </p:nvSpPr>
        <p:spPr>
          <a:xfrm>
            <a:off x="3456432" y="579729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3493008" y="585215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357" name="Rectangle 356"/>
          <p:cNvSpPr/>
          <p:nvPr/>
        </p:nvSpPr>
        <p:spPr>
          <a:xfrm>
            <a:off x="4325112" y="579729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8" name="TextBox 357"/>
          <p:cNvSpPr txBox="1"/>
          <p:nvPr/>
        </p:nvSpPr>
        <p:spPr>
          <a:xfrm>
            <a:off x="4361688" y="585215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359" name="Rectangle 358"/>
          <p:cNvSpPr/>
          <p:nvPr/>
        </p:nvSpPr>
        <p:spPr>
          <a:xfrm>
            <a:off x="6656832" y="579729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6693408" y="585215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61" name="Rectangle 360"/>
          <p:cNvSpPr/>
          <p:nvPr/>
        </p:nvSpPr>
        <p:spPr>
          <a:xfrm>
            <a:off x="7754112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7790688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63" name="Rectangle 362"/>
          <p:cNvSpPr/>
          <p:nvPr/>
        </p:nvSpPr>
        <p:spPr>
          <a:xfrm>
            <a:off x="8257032" y="579729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4" name="TextBox 363"/>
          <p:cNvSpPr txBox="1"/>
          <p:nvPr/>
        </p:nvSpPr>
        <p:spPr>
          <a:xfrm>
            <a:off x="8293608" y="585215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65" name="Rectangle 364"/>
          <p:cNvSpPr/>
          <p:nvPr/>
        </p:nvSpPr>
        <p:spPr>
          <a:xfrm>
            <a:off x="8915400" y="579729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8951976" y="585215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367" name="Rectangle 366"/>
          <p:cNvSpPr/>
          <p:nvPr/>
        </p:nvSpPr>
        <p:spPr>
          <a:xfrm>
            <a:off x="475488" y="606247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512064" y="611733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1638</a:t>
            </a:r>
          </a:p>
        </p:txBody>
      </p:sp>
      <p:sp>
        <p:nvSpPr>
          <p:cNvPr id="369" name="Rectangle 368"/>
          <p:cNvSpPr/>
          <p:nvPr/>
        </p:nvSpPr>
        <p:spPr>
          <a:xfrm>
            <a:off x="804672" y="606247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0" name="TextBox 369"/>
          <p:cNvSpPr txBox="1"/>
          <p:nvPr/>
        </p:nvSpPr>
        <p:spPr>
          <a:xfrm>
            <a:off x="841248" y="611733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71" name="Rectangle 370"/>
          <p:cNvSpPr/>
          <p:nvPr/>
        </p:nvSpPr>
        <p:spPr>
          <a:xfrm>
            <a:off x="1444752" y="606247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2" name="TextBox 371"/>
          <p:cNvSpPr txBox="1"/>
          <p:nvPr/>
        </p:nvSpPr>
        <p:spPr>
          <a:xfrm>
            <a:off x="1481328" y="611733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73" name="Rectangle 372"/>
          <p:cNvSpPr/>
          <p:nvPr/>
        </p:nvSpPr>
        <p:spPr>
          <a:xfrm>
            <a:off x="3072384" y="606247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4" name="TextBox 373"/>
          <p:cNvSpPr txBox="1"/>
          <p:nvPr/>
        </p:nvSpPr>
        <p:spPr>
          <a:xfrm>
            <a:off x="3108960" y="611733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75" name="Rectangle 374"/>
          <p:cNvSpPr/>
          <p:nvPr/>
        </p:nvSpPr>
        <p:spPr>
          <a:xfrm>
            <a:off x="3456432" y="606247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6" name="TextBox 375"/>
          <p:cNvSpPr txBox="1"/>
          <p:nvPr/>
        </p:nvSpPr>
        <p:spPr>
          <a:xfrm>
            <a:off x="3493008" y="611733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377" name="Rectangle 376"/>
          <p:cNvSpPr/>
          <p:nvPr/>
        </p:nvSpPr>
        <p:spPr>
          <a:xfrm>
            <a:off x="4325112" y="606247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8" name="TextBox 377"/>
          <p:cNvSpPr txBox="1"/>
          <p:nvPr/>
        </p:nvSpPr>
        <p:spPr>
          <a:xfrm>
            <a:off x="4361688" y="611733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379" name="Rectangle 378"/>
          <p:cNvSpPr/>
          <p:nvPr/>
        </p:nvSpPr>
        <p:spPr>
          <a:xfrm>
            <a:off x="6656832" y="606247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0" name="TextBox 379"/>
          <p:cNvSpPr txBox="1"/>
          <p:nvPr/>
        </p:nvSpPr>
        <p:spPr>
          <a:xfrm>
            <a:off x="6693408" y="611733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381" name="Rectangle 380"/>
          <p:cNvSpPr/>
          <p:nvPr/>
        </p:nvSpPr>
        <p:spPr>
          <a:xfrm>
            <a:off x="7754112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2" name="TextBox 381"/>
          <p:cNvSpPr txBox="1"/>
          <p:nvPr/>
        </p:nvSpPr>
        <p:spPr>
          <a:xfrm>
            <a:off x="7790688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3" name="Rectangle 382"/>
          <p:cNvSpPr/>
          <p:nvPr/>
        </p:nvSpPr>
        <p:spPr>
          <a:xfrm>
            <a:off x="8257032" y="606247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4" name="TextBox 383"/>
          <p:cNvSpPr txBox="1"/>
          <p:nvPr/>
        </p:nvSpPr>
        <p:spPr>
          <a:xfrm>
            <a:off x="8293608" y="611733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385" name="Rectangle 384"/>
          <p:cNvSpPr/>
          <p:nvPr/>
        </p:nvSpPr>
        <p:spPr>
          <a:xfrm>
            <a:off x="8915400" y="606247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6" name="TextBox 385"/>
          <p:cNvSpPr txBox="1"/>
          <p:nvPr/>
        </p:nvSpPr>
        <p:spPr>
          <a:xfrm>
            <a:off x="8951976" y="611733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MODEL INTELLIGENCE · 92/92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Per Branch Class A/B/C model details: Stock Status, Inventory, Suggested Transfer and DoI.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5488" y="1234440"/>
            <a:ext cx="329184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512064" y="1298448"/>
            <a:ext cx="256031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804672" y="1234440"/>
            <a:ext cx="6400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41248" y="1298448"/>
            <a:ext cx="5669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44752" y="1234440"/>
            <a:ext cx="1627632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81328" y="1298448"/>
            <a:ext cx="1554480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072384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108960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56432" y="1234440"/>
            <a:ext cx="8686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3493008" y="1298448"/>
            <a:ext cx="7955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325112" y="1234440"/>
            <a:ext cx="23317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361688" y="1298448"/>
            <a:ext cx="22585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656832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693408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754112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7790688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257032" y="1234440"/>
            <a:ext cx="65836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293608" y="1298448"/>
            <a:ext cx="58521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915400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951976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475488" y="155448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12064" y="160934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1639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04672" y="155448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841248" y="160934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44752" y="155448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1481328" y="160934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072384" y="155448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108960" y="160934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456432" y="155448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493008" y="160934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25112" y="155448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4361688" y="160934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656832" y="155448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693408" y="160934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1" name="Rectangle 40"/>
          <p:cNvSpPr/>
          <p:nvPr/>
        </p:nvSpPr>
        <p:spPr>
          <a:xfrm>
            <a:off x="7754112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790688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43" name="Rectangle 42"/>
          <p:cNvSpPr/>
          <p:nvPr/>
        </p:nvSpPr>
        <p:spPr>
          <a:xfrm>
            <a:off x="8257032" y="155448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293608" y="160934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45" name="Rectangle 44"/>
          <p:cNvSpPr/>
          <p:nvPr/>
        </p:nvSpPr>
        <p:spPr>
          <a:xfrm>
            <a:off x="8915400" y="155448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8951976" y="160934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75488" y="181965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12064" y="187451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672" y="181965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1248" y="187451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44752" y="181965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481328" y="187451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072384" y="181965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108960" y="187451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456432" y="181965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3493008" y="187451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325112" y="181965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361688" y="187451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656832" y="181965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6693408" y="187451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754112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790688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57032" y="181965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293608" y="187451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915400" y="181965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951976" y="187451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75488" y="2084831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512064" y="213969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804672" y="2084831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841248" y="213969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444752" y="2084831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481328" y="213969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73" name="Rectangle 72"/>
          <p:cNvSpPr/>
          <p:nvPr/>
        </p:nvSpPr>
        <p:spPr>
          <a:xfrm>
            <a:off x="3072384" y="2084831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108960" y="213969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456432" y="2084831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493008" y="213969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325112" y="2084831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361688" y="213969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6656832" y="2084831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6693408" y="213969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754112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790688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257032" y="2084831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293608" y="213969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85" name="Rectangle 84"/>
          <p:cNvSpPr/>
          <p:nvPr/>
        </p:nvSpPr>
        <p:spPr>
          <a:xfrm>
            <a:off x="8915400" y="2084831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8951976" y="213969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75488" y="2350008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512064" y="2404872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1642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04672" y="2350008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41248" y="2404872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444752" y="2350008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481328" y="2404872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072384" y="2350008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3108960" y="2404872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456432" y="2350008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493008" y="2404872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97" name="Rectangle 96"/>
          <p:cNvSpPr/>
          <p:nvPr/>
        </p:nvSpPr>
        <p:spPr>
          <a:xfrm>
            <a:off x="4325112" y="2350008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4361688" y="2404872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56832" y="2350008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93408" y="2404872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754112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790688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257032" y="2350008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293608" y="2404872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915400" y="2350008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951976" y="2404872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475488" y="2615184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512064" y="2670048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804672" y="2615184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841248" y="2670048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444752" y="2615184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481328" y="2670048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3072384" y="2615184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3108960" y="2670048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3456432" y="2615184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493008" y="2670048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4325112" y="2615184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4361688" y="2670048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656832" y="2615184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693408" y="2670048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7754112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7790688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257032" y="2615184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293608" y="2670048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8915400" y="2615184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951976" y="2670048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75488" y="288036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512064" y="2935224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804672" y="288036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841248" y="2935224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1444752" y="288036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1481328" y="2935224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3072384" y="288036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3108960" y="2935224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3456432" y="288036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3493008" y="2935224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325112" y="288036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361688" y="2935224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656832" y="288036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693408" y="2935224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7754112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7790688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8257032" y="288036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8293608" y="2935224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915400" y="288036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951976" y="2935224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475488" y="314553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12064" y="3200400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04672" y="314553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841248" y="3200400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1444752" y="314553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1481328" y="3200400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3072384" y="314553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3108960" y="3200400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3456432" y="314553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493008" y="3200400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325112" y="314553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361688" y="3200400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56832" y="314553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93408" y="3200400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754112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790688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257032" y="314553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293608" y="3200400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915400" y="314553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951976" y="3200400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75488" y="341071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12064" y="3465576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804672" y="341071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841248" y="3465576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444752" y="341071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481328" y="3465576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3072384" y="341071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3108960" y="3465576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3456432" y="341071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3493008" y="3465576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4325112" y="341071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4361688" y="3465576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656832" y="341071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693408" y="3465576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754112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790688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257032" y="341071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293608" y="3465576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8915400" y="341071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8951976" y="3465576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475488" y="3675887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12064" y="3730751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1647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04672" y="3675887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41248" y="3730751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444752" y="3675887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481328" y="3730751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3072384" y="3675887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3108960" y="3730751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3456432" y="3675887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3493008" y="3730751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4325112" y="3675887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4361688" y="3730751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656832" y="3675887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693408" y="3730751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7754112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7790688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57032" y="3675887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293608" y="3730751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8915400" y="3675887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8951976" y="3730751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75488" y="3941063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512064" y="3995927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804672" y="3941063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841248" y="3995927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444752" y="3941063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481328" y="3995927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3072384" y="3941063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3108960" y="3995927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3456432" y="3941063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3493008" y="3995927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4325112" y="3941063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4361688" y="3995927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6656832" y="3941063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6693408" y="3995927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7754112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7790688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257032" y="3941063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293608" y="3995927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915400" y="3941063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951976" y="3995927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475488" y="4206240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512064" y="4261103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1649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04672" y="4206240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41248" y="4261103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1444752" y="4206240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1481328" y="4261103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3072384" y="4206240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3108960" y="4261103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3456432" y="4206240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3493008" y="4261103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325112" y="4206240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361688" y="4261103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56832" y="4206240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93408" y="4261103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754112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790688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257032" y="4206240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293608" y="4261103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915400" y="4206240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951976" y="4261103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475488" y="4471416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512064" y="4526279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1650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804672" y="4471416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841248" y="4526279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444752" y="4471416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481328" y="4526279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3072384" y="4471416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3108960" y="4526279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3456432" y="4471416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3493008" y="4526279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4325112" y="4471416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4361688" y="4526279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6656832" y="4471416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6693408" y="4526279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7754112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7790688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8257032" y="4471416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8293608" y="4526279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8915400" y="4471416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8951976" y="4526279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475488" y="4736592"/>
            <a:ext cx="329184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512064" y="4791455"/>
            <a:ext cx="256031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1651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04672" y="4736592"/>
            <a:ext cx="6400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41248" y="4791455"/>
            <a:ext cx="5669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1444752" y="4736592"/>
            <a:ext cx="1627632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1481328" y="4791455"/>
            <a:ext cx="1554480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3072384" y="4736592"/>
            <a:ext cx="38404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3108960" y="4791455"/>
            <a:ext cx="31089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3456432" y="4736592"/>
            <a:ext cx="8686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3493008" y="4791455"/>
            <a:ext cx="79552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4325112" y="4736592"/>
            <a:ext cx="23317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4361688" y="4791455"/>
            <a:ext cx="22585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656832" y="4736592"/>
            <a:ext cx="109728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693408" y="4791455"/>
            <a:ext cx="1024127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7754112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7790688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8257032" y="4736592"/>
            <a:ext cx="658368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8293608" y="4791455"/>
            <a:ext cx="585216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8915400" y="4736592"/>
            <a:ext cx="502920" cy="242316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8951976" y="4791455"/>
            <a:ext cx="429768" cy="16916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ALL-BRANCH MODEL PRIORITY SNAPSHOT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Top model-level exceptions from branch Model Intelligence, prioritizing Class A and stock-risk conditions.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42415" y="1234440"/>
            <a:ext cx="8412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078992" y="1298448"/>
            <a:ext cx="7680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883664" y="1234440"/>
            <a:ext cx="2240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920240" y="1298448"/>
            <a:ext cx="21671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4123944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160520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626864" y="1234440"/>
            <a:ext cx="2880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663440" y="1298448"/>
            <a:ext cx="2807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07223" y="1234440"/>
            <a:ext cx="12984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43799" y="1298448"/>
            <a:ext cx="1225295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Status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805672" y="1234440"/>
            <a:ext cx="594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842247" y="1298448"/>
            <a:ext cx="521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1" name="Rectangle 20"/>
          <p:cNvSpPr/>
          <p:nvPr/>
        </p:nvSpPr>
        <p:spPr>
          <a:xfrm>
            <a:off x="9400032" y="1234440"/>
            <a:ext cx="594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9436607" y="1298448"/>
            <a:ext cx="521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58368" y="155448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94944" y="160934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042415" y="155448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078992" y="160934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883664" y="155448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920240" y="160934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123944" y="155448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0520" y="160934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626864" y="155448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663440" y="160934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7507223" y="155448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7543799" y="160934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805672" y="155448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842247" y="160934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400032" y="155448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436607" y="160934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58368" y="1796795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94944" y="185166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042415" y="1796795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1078992" y="185166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883664" y="1796795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20240" y="185166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123944" y="1796795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160520" y="185166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626864" y="1796795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663440" y="185166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49" name="Rectangle 48"/>
          <p:cNvSpPr/>
          <p:nvPr/>
        </p:nvSpPr>
        <p:spPr>
          <a:xfrm>
            <a:off x="7507223" y="1796795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543799" y="185166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805672" y="179679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842247" y="185166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400032" y="179679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436607" y="185166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03911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09397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42415" y="203911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078992" y="209397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883664" y="203911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920240" y="209397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123944" y="203911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160520" y="209397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63" name="Rectangle 62"/>
          <p:cNvSpPr/>
          <p:nvPr/>
        </p:nvSpPr>
        <p:spPr>
          <a:xfrm>
            <a:off x="4626864" y="203911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4663440" y="209397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507223" y="203911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543799" y="209397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805672" y="203911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842247" y="209397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9400032" y="203911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9436607" y="209397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58368" y="228142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94944" y="2336292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3" name="Rectangle 72"/>
          <p:cNvSpPr/>
          <p:nvPr/>
        </p:nvSpPr>
        <p:spPr>
          <a:xfrm>
            <a:off x="1042415" y="228142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1078992" y="2336292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1883664" y="228142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1920240" y="2336292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123944" y="228142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160520" y="2336292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9" name="Rectangle 78"/>
          <p:cNvSpPr/>
          <p:nvPr/>
        </p:nvSpPr>
        <p:spPr>
          <a:xfrm>
            <a:off x="4626864" y="228142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4663440" y="2336292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507223" y="228142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543799" y="2336292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805672" y="228142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842247" y="233629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9400032" y="228142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9436607" y="233629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2523744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2578608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42415" y="2523744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078992" y="2578608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883664" y="2523744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920240" y="2578608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4123944" y="2523744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4160520" y="2578608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26864" y="2523744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63440" y="2578608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507223" y="2523744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7543799" y="2578608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8805672" y="252374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8842247" y="257860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9400032" y="252374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9436607" y="257860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58368" y="276606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94944" y="282092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042415" y="276606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1078992" y="282092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883664" y="276606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920240" y="282092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123944" y="276606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160520" y="282092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626864" y="276606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663440" y="282092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7507223" y="276606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7543799" y="282092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8805672" y="276606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8842247" y="282092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9400032" y="276606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9436607" y="282092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008376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06324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42415" y="3008376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078992" y="306324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1883664" y="3008376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920240" y="306324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4123944" y="3008376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4160520" y="306324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626864" y="3008376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663440" y="306324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07223" y="3008376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43799" y="306324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805672" y="300837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842247" y="306324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9400032" y="300837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9436607" y="306324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658368" y="325069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694944" y="330555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1042415" y="325069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1078992" y="330555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883664" y="325069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920240" y="330555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123944" y="325069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160520" y="330555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4626864" y="325069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4663440" y="330555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507223" y="325069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543799" y="330555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805672" y="325069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842247" y="330555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400032" y="325069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436607" y="330555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58368" y="349300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94944" y="3547872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1042415" y="349300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1078992" y="3547872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883664" y="349300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920240" y="3547872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123944" y="349300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160520" y="3547872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4626864" y="349300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4663440" y="3547872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507223" y="349300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543799" y="3547872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805672" y="349300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842247" y="354787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400032" y="349300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436607" y="354787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3735324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3790188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42415" y="3735324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078992" y="3790188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883664" y="3735324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920240" y="3790188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4123944" y="3735324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4160520" y="3790188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4626864" y="3735324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4663440" y="3790188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7507223" y="3735324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7543799" y="3790188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8805672" y="373532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8842247" y="379018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9400032" y="373532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9436607" y="379018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58368" y="397764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94944" y="403250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1042415" y="397764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1078992" y="403250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883664" y="397764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920240" y="403250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4123944" y="397764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4160520" y="403250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626864" y="397764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663440" y="403250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507223" y="397764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543799" y="403250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805672" y="397764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842247" y="403250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00032" y="397764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36607" y="403250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58368" y="4219956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4944" y="427482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042415" y="4219956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078992" y="427482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1883664" y="4219956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1920240" y="427482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4123944" y="4219956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4160520" y="427482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26864" y="4219956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63440" y="427482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507223" y="4219956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543799" y="427482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8805672" y="421995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8842247" y="427482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9400032" y="421995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9436607" y="427482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58368" y="446227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94944" y="451713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1042415" y="446227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1078992" y="451713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883664" y="446227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920240" y="451713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123944" y="446227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160520" y="451713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4626864" y="446227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4663440" y="451713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507223" y="446227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543799" y="451713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805672" y="446227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842247" y="451713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9400032" y="446227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9436607" y="451713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470458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4759451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42415" y="470458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078992" y="4759451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1883664" y="470458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1920240" y="4759451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123944" y="470458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160520" y="4759451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4626864" y="470458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663440" y="4759451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BARAKO II (DUAL START)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07223" y="470458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43799" y="4759451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805672" y="470458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842247" y="475945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9400032" y="470458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9436607" y="475945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658368" y="4946903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694944" y="5001767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1042415" y="4946903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1078992" y="5001767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883664" y="4946903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920240" y="5001767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4123944" y="4946903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4160520" y="5001767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4626864" y="4946903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4663440" y="5001767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7507223" y="4946903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7543799" y="5001767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805672" y="494690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842247" y="500176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400032" y="494690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436607" y="500176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658368" y="5189219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694944" y="5244083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1042415" y="5189219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1078992" y="5244083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1883664" y="5189219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1920240" y="5244083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4123944" y="5189219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4160520" y="5244083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4626864" y="5189219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4663440" y="5244083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7507223" y="5189219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7543799" y="5244083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8805672" y="5189219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8842247" y="5244083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9400032" y="5189219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9436607" y="5244083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58368" y="5431535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94944" y="5486399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1042415" y="5431535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1078992" y="5486399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1883664" y="5431535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1920240" y="5486399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4123944" y="5431535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4160520" y="5486399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626864" y="5431535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4663440" y="5486399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7507223" y="5431535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7543799" y="5486399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8805672" y="543153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8842247" y="5486399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9400032" y="543153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9436607" y="5486399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658368" y="5673851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694944" y="5728715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1042415" y="5673851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78992" y="5728715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1883664" y="5673851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920240" y="5728715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4123944" y="5673851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4160520" y="5728715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4626864" y="5673851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4663440" y="5728715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7507223" y="5673851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7543799" y="5728715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8805672" y="5673851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8842247" y="5728715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9400032" y="5673851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9436607" y="5728715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658368" y="5916167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694944" y="5971031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1042415" y="5916167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1078992" y="5971031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1883664" y="5916167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920240" y="5971031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123944" y="5916167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160520" y="5971031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4626864" y="5916167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4663440" y="5971031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507223" y="5916167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543799" y="5971031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805672" y="5916167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842247" y="597103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9400032" y="5916167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9436607" y="597103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658368" y="6158483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694944" y="6213347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1042415" y="6158483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1078992" y="6213347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883664" y="6158483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920240" y="6213347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4123944" y="6158483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4160520" y="6213347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4626864" y="6158483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4663440" y="6213347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7507223" y="6158483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7543799" y="6213347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805672" y="615848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842247" y="621334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9400032" y="615848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9436607" y="621334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658368" y="914400"/>
            <a:ext cx="10881360" cy="5029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800" b="1">
                <a:solidFill>
                  <a:srgbClr val="F8FAFC"/>
                </a:solidFill>
              </a:rPr>
              <a:t>MANAGEMENT ACTION FRAME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58368" y="1508760"/>
            <a:ext cx="10607040" cy="3657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500" b="0">
                <a:solidFill>
                  <a:srgbClr val="94A3B8"/>
                </a:solidFill>
              </a:rPr>
              <a:t>Use the deck to identify Area exposure, branch priorities and model-level actions from a single KPI export.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58368" y="2331720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TextBox 4"/>
          <p:cNvSpPr txBox="1"/>
          <p:nvPr/>
        </p:nvSpPr>
        <p:spPr>
          <a:xfrm>
            <a:off x="914400" y="2496312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1">
                <a:solidFill>
                  <a:srgbClr val="FBBF24"/>
                </a:solidFill>
              </a:rPr>
              <a:t>1  Review YTD and Weekly KPI movement before approving corrective actions.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658368" y="3118103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TextBox 6"/>
          <p:cNvSpPr txBox="1"/>
          <p:nvPr/>
        </p:nvSpPr>
        <p:spPr>
          <a:xfrm>
            <a:off x="914400" y="3282696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2  Prioritize high stock-out Areas and Class A branch exposure.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58368" y="3904487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914400" y="4069080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3  Use all-Branch rankings to assign follow-up owners and replenishment priority.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658368" y="4690872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914400" y="4855464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4  Re-import the latest workbook and regenerate this deck for every management review.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